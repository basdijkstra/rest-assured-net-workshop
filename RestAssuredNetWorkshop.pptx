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  <p:sldMasterId id="2147483696" r:id="rId4"/>
  </p:sldMasterIdLst>
  <p:notesMasterIdLst>
    <p:notesMasterId r:id="rId78"/>
  </p:notesMasterIdLst>
  <p:sldIdLst>
    <p:sldId id="256" r:id="rId5"/>
    <p:sldId id="295" r:id="rId6"/>
    <p:sldId id="258" r:id="rId7"/>
    <p:sldId id="884" r:id="rId8"/>
    <p:sldId id="891" r:id="rId9"/>
    <p:sldId id="892" r:id="rId10"/>
    <p:sldId id="1046" r:id="rId11"/>
    <p:sldId id="893" r:id="rId12"/>
    <p:sldId id="933" r:id="rId13"/>
    <p:sldId id="934" r:id="rId14"/>
    <p:sldId id="894" r:id="rId15"/>
    <p:sldId id="895" r:id="rId16"/>
    <p:sldId id="896" r:id="rId17"/>
    <p:sldId id="897" r:id="rId18"/>
    <p:sldId id="898" r:id="rId19"/>
    <p:sldId id="758" r:id="rId20"/>
    <p:sldId id="264" r:id="rId21"/>
    <p:sldId id="265" r:id="rId22"/>
    <p:sldId id="266" r:id="rId23"/>
    <p:sldId id="296" r:id="rId24"/>
    <p:sldId id="267" r:id="rId25"/>
    <p:sldId id="268" r:id="rId26"/>
    <p:sldId id="269" r:id="rId27"/>
    <p:sldId id="275" r:id="rId28"/>
    <p:sldId id="273" r:id="rId29"/>
    <p:sldId id="950" r:id="rId30"/>
    <p:sldId id="952" r:id="rId31"/>
    <p:sldId id="953" r:id="rId32"/>
    <p:sldId id="605" r:id="rId33"/>
    <p:sldId id="274" r:id="rId34"/>
    <p:sldId id="272" r:id="rId35"/>
    <p:sldId id="277" r:id="rId36"/>
    <p:sldId id="279" r:id="rId37"/>
    <p:sldId id="280" r:id="rId38"/>
    <p:sldId id="690" r:id="rId39"/>
    <p:sldId id="691" r:id="rId40"/>
    <p:sldId id="281" r:id="rId41"/>
    <p:sldId id="939" r:id="rId42"/>
    <p:sldId id="1037" r:id="rId43"/>
    <p:sldId id="283" r:id="rId44"/>
    <p:sldId id="284" r:id="rId45"/>
    <p:sldId id="285" r:id="rId46"/>
    <p:sldId id="292" r:id="rId47"/>
    <p:sldId id="293" r:id="rId48"/>
    <p:sldId id="941" r:id="rId49"/>
    <p:sldId id="299" r:id="rId50"/>
    <p:sldId id="1038" r:id="rId51"/>
    <p:sldId id="1048" r:id="rId52"/>
    <p:sldId id="1049" r:id="rId53"/>
    <p:sldId id="1051" r:id="rId54"/>
    <p:sldId id="1050" r:id="rId55"/>
    <p:sldId id="309" r:id="rId56"/>
    <p:sldId id="310" r:id="rId57"/>
    <p:sldId id="311" r:id="rId58"/>
    <p:sldId id="1039" r:id="rId59"/>
    <p:sldId id="312" r:id="rId60"/>
    <p:sldId id="1034" r:id="rId61"/>
    <p:sldId id="1040" r:id="rId62"/>
    <p:sldId id="1744" r:id="rId63"/>
    <p:sldId id="1745" r:id="rId64"/>
    <p:sldId id="1746" r:id="rId65"/>
    <p:sldId id="1747" r:id="rId66"/>
    <p:sldId id="1749" r:id="rId67"/>
    <p:sldId id="1750" r:id="rId68"/>
    <p:sldId id="1751" r:id="rId69"/>
    <p:sldId id="1752" r:id="rId70"/>
    <p:sldId id="1041" r:id="rId71"/>
    <p:sldId id="1042" r:id="rId72"/>
    <p:sldId id="1043" r:id="rId73"/>
    <p:sldId id="1044" r:id="rId74"/>
    <p:sldId id="1045" r:id="rId75"/>
    <p:sldId id="289" r:id="rId76"/>
    <p:sldId id="290" r:id="rId77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00D300"/>
    <a:srgbClr val="008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AEFF7"/>
          </a:solidFill>
        </a:fill>
      </a:tcStyle>
    </a:wholeTbl>
    <a:band1H>
      <a:tcStyle>
        <a:tcBdr/>
        <a:fill>
          <a:solidFill>
            <a:srgbClr val="D2DEEF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D2DEEF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5B9BD5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5B9BD5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5B9BD5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5B9BD5"/>
          </a:solidFill>
        </a:fill>
      </a:tcStyle>
    </a:firstRow>
  </a:tblStyle>
  <a:tblStyle styleId="{2D5ABB26-0587-4C30-8999-92F81FD0307C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/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60"/>
  </p:normalViewPr>
  <p:slideViewPr>
    <p:cSldViewPr snapToGrid="0">
      <p:cViewPr varScale="1">
        <p:scale>
          <a:sx n="142" d="100"/>
          <a:sy n="142" d="100"/>
        </p:scale>
        <p:origin x="3264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presProps" Target="presProp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82" Type="http://schemas.openxmlformats.org/officeDocument/2006/relationships/tableStyles" Target="tableStyle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slide" Target="slides/slide73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notesMaster" Target="notesMasters/notesMaster1.xml"/><Relationship Id="rId81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D16772E-9742-40CA-8FC7-1D94CE439A5B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nl-NL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5AE132-DA72-4D49-8FBE-E50B275CD09A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nl-NL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38C7E067-87B0-48A7-AF7C-EA8B321B878F}" type="datetime1">
              <a:rPr lang="nl-NL"/>
              <a:pPr lvl="0"/>
              <a:t>14-11-2025</a:t>
            </a:fld>
            <a:endParaRPr lang="nl-NL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28DEBCAA-4913-4E1E-8CEB-744E65AE28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099"/>
          </a:xfrm>
          <a:prstGeom prst="rect">
            <a:avLst/>
          </a:prstGeo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8AC2F3D-EAB6-4F40-8154-447257BEECDC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34C3AD-8E8C-4C38-965C-D968653B0EBB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nl-NL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F9FF97-3E3C-4A52-A8FD-7A6C2E19DB5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nl-NL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7973DD44-48FC-416D-BD7D-CDF9A2A62DF8}" type="slidenum"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386764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lvl="0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1pPr>
    <a:lvl2pPr marL="457200" marR="0" lvl="1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2pPr>
    <a:lvl3pPr marL="914400" marR="0" lvl="2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3pPr>
    <a:lvl4pPr marL="1371600" marR="0" lvl="3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4pPr>
    <a:lvl5pPr marL="1828800" marR="0" lvl="4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DEF0C8-7AE0-4E03-BD64-4C4AA900CD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174811-1E4F-4F43-9DF8-FBF3360FDA3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F09117-E0A3-4FCA-9478-5360EE3C6D21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4DD60034-B153-4244-AFB2-E4435E5BDE9D}" type="slidenum">
              <a:t>1</a:t>
            </a:fld>
            <a:endParaRPr lang="nl-NL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2A3D2C-A7E5-404E-9935-1DDFE9D421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95ECE8-9ED8-4C96-A9F4-7E42F4C6D0E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E769AF-EDFC-4532-AE1E-A53E036C05B4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7A53A041-F2DB-4F30-A524-DE3086978843}" type="slidenum">
              <a:t>2</a:t>
            </a:fld>
            <a:endParaRPr lang="nl-NL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9FED66-C945-4F02-A5D6-0E54A068D8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282AE2-31F1-4C82-B447-22A4EBD2A15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343F59-862F-4315-B5A3-368226B647C7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E01C6E9-6533-4DFC-A6D7-C598BBDCBDA6}" type="slidenum">
              <a:t>3</a:t>
            </a:fld>
            <a:endParaRPr lang="nl-NL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D1B175-4AA8-4E22-A293-4FC0E25D585B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72743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D1B175-4AA8-4E22-A293-4FC0E25D585B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1233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D1B175-4AA8-4E22-A293-4FC0E25D585B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33103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4A99CA-F250-4F50-BADF-D351525623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B0099F-4346-454A-AED0-43FFC02360F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4F93A4-C0CC-453D-A36C-F76E0CC483DB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7D80D5E-092C-42BE-83C4-CE827814DFCE}" type="slidenum"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7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50076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D1B175-4AA8-4E22-A293-4FC0E25D585B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02871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D1B175-4AA8-4E22-A293-4FC0E25D585B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58287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D1B175-4AA8-4E22-A293-4FC0E25D585B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57609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D1B175-4AA8-4E22-A293-4FC0E25D585B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17048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D1B175-4AA8-4E22-A293-4FC0E25D585B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12954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D1B175-4AA8-4E22-A293-4FC0E25D585B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28540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D1B175-4AA8-4E22-A293-4FC0E25D585B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71529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D1B175-4AA8-4E22-A293-4FC0E25D585B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47441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ED7414-8D01-4A84-821C-C473114F35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B3C6F5-C1A5-441B-838D-84B229010E1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408FFA-A141-4AAC-A143-78EFBA16D5A0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5E4AB6F-ED89-4D81-86CF-8782A2BF9BA0}" type="slidenum">
              <a:t>17</a:t>
            </a:fld>
            <a:endParaRPr lang="nl-NL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BB433A-66A2-4F2E-BCBC-B8DEDC0514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1EA927-EA74-4CBE-8164-76F7D873B56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E395ED-396F-4273-B559-FA7C95871461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8EBC009-4D8C-47AE-9480-ABAE7C68217C}" type="slidenum">
              <a:t>18</a:t>
            </a:fld>
            <a:endParaRPr lang="nl-NL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BBCB49-23D1-475C-8351-E3915397C3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995E75-CB7F-4E36-8035-FCED861A611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F51508-D4B4-474D-8CA0-BEE514440CEB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1FDFDAA-7F51-4794-9706-C1B380B1C961}" type="slidenum">
              <a:t>19</a:t>
            </a:fld>
            <a:endParaRPr lang="nl-NL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F79565-4C3E-46F6-B5A1-AFCE3EA96A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B79D9E-2CEA-4E3D-92ED-EAC2F5F9557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166D26-6899-4899-B25B-B111EF5BB0C9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198A150-4204-4F47-A0B8-0C95210AA61D}" type="slidenum">
              <a:t>20</a:t>
            </a:fld>
            <a:endParaRPr lang="nl-NL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0CEFCB-DEB9-41C7-867A-704FE4687B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5D6F79-56B3-4063-86DD-1AA1EB8599E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FAEC46-A6AD-4533-8506-7E7A79650941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3AD050DA-0191-4C07-B211-3EF42803C1BE}" type="slidenum">
              <a:t>21</a:t>
            </a:fld>
            <a:endParaRPr lang="nl-NL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E46676-F74B-4B67-ADF4-E8C2D467D3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7072BF-7DCA-4A52-A4FB-964503B1DAA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566955-9002-4D02-B8F8-8FB2D134B692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EA100B20-5661-451E-BFF2-0F7A5880D9CF}" type="slidenum">
              <a:t>22</a:t>
            </a:fld>
            <a:endParaRPr lang="nl-NL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A5A934-0096-4FEF-B81B-56068B61B7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C687F7-65E6-4360-A6C4-05710FDEB77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104DB0-99AF-4C18-85E1-DA479E46CD58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2C0FAD8-5D09-40EE-85F8-051991D3C175}" type="slidenum">
              <a:t>23</a:t>
            </a:fld>
            <a:endParaRPr lang="nl-NL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4FA178-032A-40E8-8DAE-3194CD8EA9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937F67-380D-4238-BBCC-D90F066067E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B046F0-78C5-4978-867C-8612978D3927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B38D9105-00B8-4692-89D4-7B021155AD1E}" type="slidenum">
              <a:t>24</a:t>
            </a:fld>
            <a:endParaRPr lang="nl-NL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511C8B-4ED5-4B6E-91E7-A628A50872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A5D9BD-E814-40C6-AED1-388BD6009D1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E10FE3-0308-4D8F-BC21-B8E9650ADEE8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54D5628-42C0-4D4B-B9B6-67F917992EF4}" type="slidenum">
              <a:t>25</a:t>
            </a:fld>
            <a:endParaRPr lang="nl-NL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D5FE46-FB7B-4AAA-8043-AAD391BF3E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08FFDB-D784-469B-A86C-2B0982B35B2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0E9D5D-988F-41FD-A5EF-3194F3D0D5F7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939C1CB-1461-4174-9880-96BF0BECC797}" type="slidenum">
              <a:t>26</a:t>
            </a:fld>
            <a:endParaRPr lang="nl-NL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5920557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D5FE46-FB7B-4AAA-8043-AAD391BF3E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08FFDB-D784-469B-A86C-2B0982B35B2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0E9D5D-988F-41FD-A5EF-3194F3D0D5F7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939C1CB-1461-4174-9880-96BF0BECC797}" type="slidenum">
              <a:t>27</a:t>
            </a:fld>
            <a:endParaRPr lang="nl-NL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3656486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D5FE46-FB7B-4AAA-8043-AAD391BF3E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08FFDB-D784-469B-A86C-2B0982B35B2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0E9D5D-988F-41FD-A5EF-3194F3D0D5F7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939C1CB-1461-4174-9880-96BF0BECC797}" type="slidenum">
              <a:t>28</a:t>
            </a:fld>
            <a:endParaRPr lang="nl-NL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7254771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8F0A7A-5445-4473-BE0C-88A92B3259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09C60B-3DBD-4EEB-ACE5-BBABCCAB63C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36F008-9CA4-4676-AD30-3884078B22A9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C8946A66-8415-4C9D-9AD1-5C5DE7E9D675}" type="slidenum"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29</a:t>
            </a:fld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225769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37BE89-DBF4-422C-BB4C-5655070FBC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4CDBFD-FA56-47D5-9DB7-099662F2EF8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66585B-C2C8-4095-B6E1-CC4B48FB26DE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B5F74E5-456E-4992-A1C9-F0E80F9984E0}" type="slidenum">
              <a:t>30</a:t>
            </a:fld>
            <a:endParaRPr lang="nl-NL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BACDD2-D8D6-4E84-84FF-6BD637E09D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93937F-D4C7-440B-80DC-172EEBE7E64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A06AD-21DD-4BDD-A8E9-1D2BFD9EF6C6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2A199A4-0056-49E9-B2D1-CF1EB25F2502}" type="slidenum">
              <a:t>31</a:t>
            </a:fld>
            <a:endParaRPr lang="nl-NL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4A99CA-F250-4F50-BADF-D351525623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B0099F-4346-454A-AED0-43FFC02360F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4F93A4-C0CC-453D-A36C-F76E0CC483DB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7D80D5E-092C-42BE-83C4-CE827814DFCE}" type="slidenum">
              <a:t>32</a:t>
            </a:fld>
            <a:endParaRPr lang="nl-NL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7DD5F6-44B9-4012-80EF-B6D8AEF810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366499-F2AD-4FC7-9839-07F76B3157C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68B408-0771-4C16-BE62-51A67D6FC651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F864EBE-ECAF-4186-91C0-CC4A39FC1194}" type="slidenum">
              <a:t>33</a:t>
            </a:fld>
            <a:endParaRPr lang="nl-NL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A7B305-2EF7-4D56-AD0A-3F125115DF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08A669-4B1C-4274-8F0B-85E30B722C7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A2A42F-EF4B-4843-8F24-18E396D41BB4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F86F6240-279D-486B-B1B5-EA655A61EF3B}" type="slidenum">
              <a:t>34</a:t>
            </a:fld>
            <a:endParaRPr lang="nl-NL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D1B175-4AA8-4E22-A293-4FC0E25D585B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798181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D1B175-4AA8-4E22-A293-4FC0E25D585B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579192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37647D-5C54-4535-A499-41ACBAD23C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1CCFE2-B237-4FCC-89D0-9DD507ADFCA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2F41DE-9DCB-467C-A170-70DFAF7F6B87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1554F8F7-8B99-4F76-A56C-56A83016FCCA}" type="slidenum">
              <a:t>37</a:t>
            </a:fld>
            <a:endParaRPr lang="nl-NL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37647D-5C54-4535-A499-41ACBAD23C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1CCFE2-B237-4FCC-89D0-9DD507ADFCA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2F41DE-9DCB-467C-A170-70DFAF7F6B87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1554F8F7-8B99-4F76-A56C-56A83016FCCA}" type="slidenum">
              <a:t>38</a:t>
            </a:fld>
            <a:endParaRPr lang="nl-NL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4114930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BACDD2-D8D6-4E84-84FF-6BD637E09D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93937F-D4C7-440B-80DC-172EEBE7E64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A06AD-21DD-4BDD-A8E9-1D2BFD9EF6C6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2A199A4-0056-49E9-B2D1-CF1EB25F2502}" type="slidenum"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39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475021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5F410B-622E-4E55-814F-A1D4CC6243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A299A4-656A-41E8-B744-481B622B112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E410CD-52A8-4301-AE77-36A5A34E7F21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5C34DD9-9198-446D-BBD5-56CE347407AC}" type="slidenum">
              <a:t>40</a:t>
            </a:fld>
            <a:endParaRPr lang="nl-NL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0DA642-F37F-457B-9A96-0E0789AB7B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A648F5-7C79-4D50-8565-302A27410B3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95CC1F-D092-424C-A5F8-04A62F32124C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D0D3179-A241-44DE-83F0-8FA9F2D6A3A8}" type="slidenum">
              <a:t>41</a:t>
            </a:fld>
            <a:endParaRPr lang="nl-NL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63D3B4-DAA7-4B59-B3C9-532C0D76ED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1AEB68-7C95-4BFA-AB4B-A79F9177BC7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7E7D13-F520-4CD2-B1DA-237BCA19A95E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C12737FC-DA53-47D4-9C85-770A2D4150D5}" type="slidenum">
              <a:t>42</a:t>
            </a:fld>
            <a:endParaRPr lang="nl-NL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C21E1C-5EA0-4E1D-B1A0-4583C5FE2E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FDDF71-84A0-4698-9FCD-AE3B98FEBA1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E59884-1797-4000-8721-47C11919276F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F7A7B2E1-8AF2-496D-A8E4-B5644DB30E46}" type="slidenum">
              <a:t>43</a:t>
            </a:fld>
            <a:endParaRPr lang="nl-NL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6C0D5F-8652-4B7B-A7E6-08B43E304E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8204B8-05C2-4AAB-85C6-DD744B92B5C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89EFEF-9007-45E1-9F6A-6AA80E464BA4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1EB8895A-035D-412C-B8FC-24AC1B3EF434}" type="slidenum">
              <a:t>44</a:t>
            </a:fld>
            <a:endParaRPr lang="nl-NL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D9C799-8AEA-4DF9-9A0F-60267E1CE8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FBC5DD-1A17-45F4-8EE8-DCE4CF9B1B5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609D1F-3EA9-4399-8128-C840ACE238DE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433FF9FC-81C2-482D-88C8-90A74C150015}" type="slidenum">
              <a:t>45</a:t>
            </a:fld>
            <a:endParaRPr lang="nl-NL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4377982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D9C799-8AEA-4DF9-9A0F-60267E1CE8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FBC5DD-1A17-45F4-8EE8-DCE4CF9B1B5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609D1F-3EA9-4399-8128-C840ACE238DE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433FF9FC-81C2-482D-88C8-90A74C150015}" type="slidenum">
              <a:t>46</a:t>
            </a:fld>
            <a:endParaRPr lang="nl-NL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BACDD2-D8D6-4E84-84FF-6BD637E09D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93937F-D4C7-440B-80DC-172EEBE7E64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A06AD-21DD-4BDD-A8E9-1D2BFD9EF6C6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2A199A4-0056-49E9-B2D1-CF1EB25F2502}" type="slidenum"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47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18346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A49C8-D0A9-779B-41CF-4DADB7824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58A516-211D-591E-B3D5-B4326C937A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D7ECF7-7B35-AE33-4AA1-9265B9F4E09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117CB2-C6C9-39B7-E480-BBEC703A0C77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5C34DD9-9198-446D-BBD5-56CE347407AC}" type="slidenum">
              <a:t>48</a:t>
            </a:fld>
            <a:endParaRPr lang="nl-NL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2157354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A8464-7D0B-EAA8-4A41-5D017A95A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5A23E8-72E4-875C-3074-FD1D5E610D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D2B457-00D1-0681-1DFB-825F760CDAA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3554A0-3897-7000-4DD4-0190CAF7941C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5C34DD9-9198-446D-BBD5-56CE347407AC}" type="slidenum">
              <a:t>49</a:t>
            </a:fld>
            <a:endParaRPr lang="nl-NL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1712407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6562F-C18E-269C-4613-F5A9DBC1E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332B52-7AD8-ED26-836E-3365B7A905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A4F611-5360-E7E5-4301-D7C8E51C0A5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B5CB4B-0EC1-B37A-6FB5-97AAA80CB82D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5C34DD9-9198-446D-BBD5-56CE347407AC}" type="slidenum">
              <a:t>50</a:t>
            </a:fld>
            <a:endParaRPr lang="nl-NL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0828712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A4E4B-5F5B-6940-FFEF-C99F19645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AF12B0-D8BD-E36A-9776-7006A9EAB0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AC0A0F-9B51-1AE6-47C6-50FF1A79369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BDF42A-C854-7DA2-04D1-294B9DD8E089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2A199A4-0056-49E9-B2D1-CF1EB25F2502}" type="slidenum"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51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103887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7973DD44-48FC-416D-BD7D-CDF9A2A62DF8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55708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BACDD2-D8D6-4E84-84FF-6BD637E09D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93937F-D4C7-440B-80DC-172EEBE7E64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A06AD-21DD-4BDD-A8E9-1D2BFD9EF6C6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2A199A4-0056-49E9-B2D1-CF1EB25F2502}" type="slidenum"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58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955437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D1B175-4AA8-4E22-A293-4FC0E25D585B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165252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C0810F-782F-4878-A434-9F1717E7BF55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261653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D1B175-4AA8-4E22-A293-4FC0E25D585B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478784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C0810F-782F-4878-A434-9F1717E7BF55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5517975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C0810F-782F-4878-A434-9F1717E7BF55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292653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799C4-DA02-9B4B-D6D1-400BD0031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415398-E74E-5CB8-2158-F3EAB0F40A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3CD7DB-5613-5E36-A83C-A8FFF3B1EC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B4554F-D039-7398-FD57-AD0B40FDBE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D1B175-4AA8-4E22-A293-4FC0E25D585B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9387318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6F485-24F2-6B81-6E3B-C3EB59BBA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41A4EC-4114-A6CC-5DDA-7A062AF32B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D75C78-7A48-2E92-51F2-72CECABBDC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17D3C6-558C-BF11-961D-3FA99CDC77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D1B175-4AA8-4E22-A293-4FC0E25D585B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5750158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86DFE-4108-B460-F7FE-3008BB2B4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7A6CEE-2466-12A9-A780-859AFF3AE8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BF0EE4-6F18-E1BD-2821-9B62BD4306C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97984E-69D6-0CFF-9716-266C004ED020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2A199A4-0056-49E9-B2D1-CF1EB25F2502}" type="slidenum"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66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9983306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973DD44-48FC-416D-BD7D-CDF9A2A62DF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3097102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BACDD2-D8D6-4E84-84FF-6BD637E09D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93937F-D4C7-440B-80DC-172EEBE7E64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A06AD-21DD-4BDD-A8E9-1D2BFD9EF6C6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2A199A4-0056-49E9-B2D1-CF1EB25F2502}" type="slidenum"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71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584240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DF07AD-101D-46D2-8A14-13DB25B69B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9D86D9-D271-4E70-BD26-B4E0BD90C19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C864D2-459F-40A2-B5AF-0AFFBCF062D9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797C95C-FBDB-4AA5-977F-19F9A2193BE5}" type="slidenum">
              <a:t>72</a:t>
            </a:fld>
            <a:endParaRPr lang="nl-NL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A585B4-8CD5-471A-BFAE-C9EA5041C1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C42949-2813-4570-A42A-5D07D651882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DB3C57-1ABD-4830-91E1-DA27212C0A7A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91901F8-18AB-4A4F-A64B-34056565670D}" type="slidenum">
              <a:t>73</a:t>
            </a:fld>
            <a:endParaRPr lang="nl-NL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27F92-DFC7-4753-BEC1-C55B44F8D3B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01A750-0CDA-4BE5-9688-86845D500AD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F7200A-788E-4824-A312-A2EE84FE596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F353120-334F-4ED0-885F-86728C006A2A}" type="datetime1">
              <a:rPr lang="nl-NL"/>
              <a:pPr lvl="0"/>
              <a:t>14-11-2025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6493F-8203-4973-9B72-C0D9EFC0248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0DB1EC-87FC-48BD-ACCC-EBD22FF4A40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494D102-DE23-4507-929E-7C43BF54003F}" type="slidenum"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7037068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77F40-9E64-498A-B7B6-E894BEE1FCE9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597EB-3E42-47E9-A74B-0EA44F197624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F8B225-E965-4492-ACA6-1C8F10B423C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A143B82-DD4F-4088-A624-3503A61074F0}" type="datetime1">
              <a:rPr lang="nl-NL"/>
              <a:pPr lvl="0"/>
              <a:t>14-11-2025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8891BC-7625-4573-8D8A-05C3658F11D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014FA-85A5-44F2-9E7C-39ACFCAD29F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D21FDCA-7000-4F25-9F93-2F30BAEAC511}" type="slidenum"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6437184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14B3B-7A6C-4144-9EA1-50BB4783EE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564CD6-925D-4280-BA31-2DCBA8B6CC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763D72-CD4B-4FB8-A4C3-26BC52E3574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4507691-7B59-419E-9A18-3770DDAE5591}" type="datetime1">
              <a:rPr lang="nl-NL"/>
              <a:pPr lvl="0"/>
              <a:t>14-11-2025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52C838-5379-4E83-A915-96F078348C6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566CED-F089-4829-8639-64F1A9C4429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608542F-2FB6-41E2-8A70-3B59E20BB44C}" type="slidenum"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72427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78987-C6E8-4281-A236-F405A0EF0955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B24DD9-CEFA-4ACC-9815-CF990CB34EE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46439E-DADE-4D69-B4DE-0A31C6725E5C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B368FF-FC38-4B5F-A80D-42C6FDCBE08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110AB0F-217C-4943-B204-665BD86D8E3B}" type="datetime1">
              <a:rPr lang="nl-NL"/>
              <a:pPr lvl="0"/>
              <a:t>14-11-2025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E91859-D823-4FF6-9AD2-4146D7967BE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112C88-86B7-408C-B2EF-0CD681693C9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19699F4-A15C-48BA-A877-C6593968D164}" type="slidenum"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21171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02AC9-05D5-4EC8-BB24-5712DD2DF7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F8F659-121A-4B9B-A006-C57992DDA0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F32215-8CE0-4D1E-8311-F5016E86172A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471FD6-5A7E-4416-B347-92EA26B6DF0C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5A4EED-1D90-46BB-BE71-0F6D01D138E4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B80942-D3F0-4C0C-8BE3-CA86F80DC6C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F24B46D-6B49-4CBF-8355-DB4287F4ACE1}" type="datetime1">
              <a:rPr lang="nl-NL"/>
              <a:pPr lvl="0"/>
              <a:t>14-11-2025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23EB7F-FDB2-4428-896C-7162DAE3EAE3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E3E2AE-9952-4BA6-BF32-DE9E9E7A7FA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01C4BB2-94AD-4DB4-A213-208FEFA86CB3}" type="slidenum"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00997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795DA-015B-464B-A848-A6B4E2178462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1E40FF-7D5E-4CEB-ACDE-C8374B3C226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29A2C93-44AC-4F0D-A967-589D486FAADA}" type="datetime1">
              <a:rPr lang="nl-NL"/>
              <a:pPr lvl="0"/>
              <a:t>14-11-2025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E07784-D6B8-4A6A-ACFF-B0C32DDDFD3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72205D-98AD-42A3-8C04-62269F9C53E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5BFBAED-05A8-457E-BD65-39E7F4816CD2}" type="slidenum"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90575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C2E104-84F1-4688-8E9A-9702AFC82B8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A85F980-1A54-42AF-A7A2-D7E167AF3461}" type="datetime1">
              <a:rPr lang="nl-NL"/>
              <a:pPr lvl="0"/>
              <a:t>14-11-2025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1A4CDB-FA60-452F-AC17-80E73E0C00E8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FE21C3-DC79-437B-9AAF-C9EF9AC21B6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EE00D41-B9EF-4015-8717-80D8B7360AFA}" type="slidenum"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95112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9D44B-16D9-48AA-85D4-D5860BF3AC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E46792-E541-4721-BF3E-018C6EAC785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999D25-7551-473B-B7EB-57A423A88368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CF6B9A-47AE-42F1-9F3B-1881A03BE88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444FC49-4617-4375-90AE-574C49864662}" type="datetime1">
              <a:rPr lang="nl-NL"/>
              <a:pPr lvl="0"/>
              <a:t>14-11-2025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AF1D70-25D9-49C1-93D0-607C78D89E8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6FDF24-6F3C-471D-B803-608E17F7178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EEAC040-BDCC-4320-8837-0C20840DE295}" type="slidenum"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73961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4DEA9-5806-4E9D-BE02-DC68DFFEF4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6E1054-EAD7-4B1D-A723-870AEEBB203E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lang="nl-NL" sz="3200"/>
            </a:lvl1pPr>
          </a:lstStyle>
          <a:p>
            <a:pPr lvl="0"/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C20EB4-E46D-43BF-B48B-8913BB177938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F616CF-7867-4065-826B-95CF33A24D9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DDCDB17-CBC3-4C37-9C62-F91CC0441161}" type="datetime1">
              <a:rPr lang="nl-NL"/>
              <a:pPr lvl="0"/>
              <a:t>14-11-2025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6CEB8F-0480-4D89-B970-B897B8D05D5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BEFC2C-9BA9-43D6-B9C9-901E4001538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C7AF284-2EBB-406E-9A42-A41DA1AC5EFD}" type="slidenum"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54091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7BB2-ACA2-4D5D-95E6-7546856BF0FD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59698A-B579-4422-A0F8-82CCB2575583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880A0-2734-43BB-80A9-4DE50E0286A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BD559C5-BBD5-4E05-8119-BA84ECDCBBC9}" type="datetime1">
              <a:rPr lang="nl-NL"/>
              <a:pPr lvl="0"/>
              <a:t>14-11-2025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63C27A-5EA4-458E-A64B-ABF1C8527F7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3C6B1F-93E1-4A67-9A30-BB17A561D46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46BD520-9CB0-4BF1-A32E-6B2AEB52404A}" type="slidenum"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81178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2F1C34-6F05-42E5-9313-03C4B8CD0189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D148C3-C814-4813-9B81-67DCAE092D44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D3B63C-C5E8-43E6-AD4E-76E9E51F120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A8C06C7-C130-4EDF-A1BC-8A1ADA3A8C49}" type="datetime1">
              <a:rPr lang="nl-NL"/>
              <a:pPr lvl="0"/>
              <a:t>14-11-2025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E85C6A-1B25-4D27-A1BB-46A3F529790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41B7DA-47C4-4201-884A-3DC9E518074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1C54DBD-1E8A-4A47-8206-A820E432B3AE}" type="slidenum"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237089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EAE1A-929D-44BC-8740-DB56181088A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A92267-F56D-49D1-A3C0-4A532685CD5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2620F-4AAC-4681-9B01-E76E3F46585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EEA0F42-FF54-4878-A646-C57FB974670E}" type="datetime1">
              <a:rPr lang="nl-NL"/>
              <a:pPr lvl="0"/>
              <a:t>14-11-2025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14D1F5-FAB1-4536-9328-6708FDAD49F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938428-86AE-4B13-94CF-EBEE54781D6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0D10CEA-31C7-4EA9-9E1E-F01346817C4F}" type="slidenum"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393691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8B647-1EEA-45A1-9FF5-2891424E28F6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DBCB01-2CDD-4F15-AB4E-C8FE1FCF753D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6B1786-936B-46E2-8D9F-B75824A2366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62BB63C-E254-42D2-9CA7-2DD237DD4C22}" type="datetime1">
              <a:rPr lang="nl-NL"/>
              <a:pPr lvl="0"/>
              <a:t>14-11-2025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B0D1B0-19F7-40BC-B3BD-5030D814C4B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CF669D-FEC2-4695-A446-EA1A37F0E3A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CA1E5A9-86D2-4F37-A6E6-5A0C508FA50A}" type="slidenum"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921572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EF9F3-EFCA-43E2-BDBA-3802FD70BD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5E4CCE-E868-479F-8A25-F3536C6035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285721-569D-49C1-800D-BEAFD0D346B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A161285-D59A-496F-B4DB-1E80D5E8B075}" type="datetime1">
              <a:rPr lang="nl-NL"/>
              <a:pPr lvl="0"/>
              <a:t>14-11-2025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0125DA-AC65-45FC-A94D-43C22DFF3E6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596FA0-80DC-4C18-9CD8-3A0B92198B0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E143564-4B13-4F70-8FE7-6D84B0F53DB4}" type="slidenum"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101218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51B87-F089-46C3-B496-A587A5272F14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B6308-2C2F-469A-84B7-376CB20D092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FF6FD6-5A59-4464-86C7-048F21026E41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5974AD-577E-4F04-A401-A774951E47F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3F400A2-F3F0-4BAB-85D9-B0A4695384F6}" type="datetime1">
              <a:rPr lang="nl-NL"/>
              <a:pPr lvl="0"/>
              <a:t>14-11-2025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C3682B-62BB-4F5C-A375-AB9FEC8F1C0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B8395D-1AF8-4DF7-9AD5-3227A6E6781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AB78E39-C357-404B-92E7-B459C4405E87}" type="slidenum"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162914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18B8B-A0F1-4629-8890-ACF357E66C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7C6943-F0D2-4EFF-BD28-B10CCFCA12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D68A21-8CC3-4514-9724-F6AE92408BEA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C2AE44-436F-4171-95AA-78BFDBD3412C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E4898B-87CC-4329-90F7-EBB3FE1A6C67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6A5C9B-12C8-4B92-ABD2-4463352C54F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1074681-7954-455A-BC39-979E308542A1}" type="datetime1">
              <a:rPr lang="nl-NL"/>
              <a:pPr lvl="0"/>
              <a:t>14-11-2025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974E59-8EBB-4481-80B2-5E3A834303F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1D64F7-1273-49E7-A8DD-41E791F0C54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F8E2C85-D01E-4FA9-8166-31D47C2AE8D4}" type="slidenum"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703240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84DD4-A44E-4D1E-BBB9-6D0AF1519199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889D60-6BFA-4E14-8E0A-D54CF56FF16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43EDBCF-B50F-4F9D-82FF-FE37B8E3242F}" type="datetime1">
              <a:rPr lang="nl-NL"/>
              <a:pPr lvl="0"/>
              <a:t>14-11-2025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8D434C-4D98-4394-A1C4-C0E5382F9AD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228D20-F346-452E-91BD-D104D3C84D6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7B0E609-29E9-47B3-BF6E-8CC865B9D25E}" type="slidenum"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710692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C3A8A6-EEFD-46BD-9598-D8BFEA3291D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66AEB38-A95A-4131-9C16-2EDD2FD8A7E3}" type="datetime1">
              <a:rPr lang="nl-NL"/>
              <a:pPr lvl="0"/>
              <a:t>14-11-2025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1D0570-A4FC-4D4B-8B4D-BDDF4AA7FD08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30E181-B58F-41FD-AC45-C2DF78F7E7A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FCEFF80-C2AD-407B-8695-E7EDBB97F650}" type="slidenum"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943617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F8382-D268-472B-A1CA-7535841063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DCA44-DBE6-4AE8-87CF-D5577375F757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FC3289-3C2E-45A5-8126-42625B32CD3F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B84473-28AC-4835-ABFE-B1174B235EC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E00E736-EA6F-44D7-B99F-5E4D15F940C3}" type="datetime1">
              <a:rPr lang="nl-NL"/>
              <a:pPr lvl="0"/>
              <a:t>14-11-2025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747DA6-9B3E-4F66-89B7-2FE8C910F20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975E6F-26DA-4209-9E44-EACDF910A06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346D08F-EF9F-4089-86C9-A05B7C3AD1D8}" type="slidenum"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42028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A3660-2F49-4E6B-9AFE-53F3F597DA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525ECB-6055-4AF2-A02D-F6BD9B2D6384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lang="nl-NL" sz="3200"/>
            </a:lvl1pPr>
          </a:lstStyle>
          <a:p>
            <a:pPr lvl="0"/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66D658-5196-461A-A034-62C4DB7116EE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2EA320-898C-4615-B0CC-AE18A26ED94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B71CD38-120C-4370-82EF-6EFC98206A62}" type="datetime1">
              <a:rPr lang="nl-NL"/>
              <a:pPr lvl="0"/>
              <a:t>14-11-2025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77817A-A3F1-41F0-9025-B17915491FB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C884D6-44FF-47BC-8931-593575A7DF2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DE64B74-C993-4593-95AD-511F9FFFA76E}" type="slidenum"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349190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92517-4732-4406-9A67-68F64FB4CD3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B14695-7019-46E9-87F5-AF80E7572262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CB6DB1-F471-48EE-B4A1-BE40A7BE618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E817389-298C-4898-AC8C-24B846E7FDE0}" type="datetime1">
              <a:rPr lang="nl-NL"/>
              <a:pPr lvl="0"/>
              <a:t>14-11-2025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1DDC43-526C-4355-BFEE-BA0E9D96C98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A5FF82-4F74-4272-AE4E-F4B9FB19782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7C7B5F7-23F7-4933-A7DB-A5BDE51BA056}" type="slidenum"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722554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55C5B9-817D-4AE5-A1C4-569887848CF5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931117-B1E0-40F5-ABB6-46AC6A4C1F4B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4A58E0-9A16-46A0-9B7F-18F22076254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7DD276C-3068-4FCD-8BB9-E63E5743A8E7}" type="datetime1">
              <a:rPr lang="nl-NL"/>
              <a:pPr lvl="0"/>
              <a:t>14-11-2025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4336DD-3C66-43E3-B6AF-2D8FE69A2C6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C168DD-AAC8-4539-8E68-F4FA31EE2AC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96FA2F0-D51B-474D-AAC9-5ED7E2E996C7}" type="slidenum"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5189440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111D4-C7F9-446B-B8FB-54F0DA96BEBD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CE182F-5799-47EF-B42B-603F1B4221C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648B9D-C146-4A58-B96A-608AE4DFED6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8B22AC6-E809-412A-B7FD-325ABF3A6E9F}" type="datetime1">
              <a:rPr lang="nl-NL"/>
              <a:pPr lvl="0"/>
              <a:t>14-11-2025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FA18A-5D7A-4866-B621-36F964E23EE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B1A97D-9DE6-49BB-8852-26B8C99BE18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E3687A6-5231-46EA-861E-2992EEABD66B}" type="slidenum"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472705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B84E8-E8B7-4018-98B4-AB8DFFCDD5DA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A37A7A-3A78-47F5-BDEB-7017A56FD8B7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A73EA-B9A5-4677-BFA4-3AC28B17641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C98114B-2606-441D-9B0C-C8E4F832DA47}" type="datetime1">
              <a:rPr lang="nl-NL"/>
              <a:pPr lvl="0"/>
              <a:t>14-11-2025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B63A3-C6D1-4926-99CD-72BAD68866C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631B07-5B35-48FA-B878-ED5A041D1E7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ACC6889-D5D0-480A-AE32-C25CD778FE6C}" type="slidenum"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16571003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2F5FE-A08C-4558-B09E-5821BFA45E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E0C109-CD27-4969-A1CE-0591749ED1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25DC9-26B6-4357-B5FB-28F7C358784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2946972-30D7-4BCD-B945-1BFED9D30B57}" type="datetime1">
              <a:rPr lang="nl-NL"/>
              <a:pPr lvl="0"/>
              <a:t>14-11-2025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888F6-D891-46D5-8C87-831D66A7CD08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593CEA-CD24-41B5-B413-F6383FFC269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588AEB0-9C3D-4C0A-9B49-9F994528BCC1}" type="slidenum"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7018943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C99D9-B8B2-47C8-ACC0-798AA28F9EF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E9A5D-6D30-41E6-8539-BCE2EDECC4B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3D2CE5-7B6A-4013-86B7-7E505F3C245C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8745C9-75E3-4C79-9A65-36A6C12348C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4A1A2A4-8D16-4856-9D98-1E00C03C68A5}" type="datetime1">
              <a:rPr lang="nl-NL"/>
              <a:pPr lvl="0"/>
              <a:t>14-11-2025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F45890-8ABB-45B0-A06E-6601CB82DD9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4D3682-ACA9-41D1-AA5D-79DC20D98BD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2D1086B-1C49-4C6D-955B-65FBD8ECCF78}" type="slidenum"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3652055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F5487-DB76-4D56-953D-8BF7D98A16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27713D-CED1-4477-B46B-474157D222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14F8FD-EBC0-4E4C-A748-B8336021672A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D5BDBC-3EAE-4815-8465-EFD1F865A17D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4482AE-7503-486C-87BC-D02B6BC1AF1A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6B1BC8-B3F6-4BA2-8FD5-CC8E1BEBF6D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8F7FD0A-3441-4AD1-97F8-A4D453E965C6}" type="datetime1">
              <a:rPr lang="nl-NL"/>
              <a:pPr lvl="0"/>
              <a:t>14-11-2025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9593B4-9E67-4AB1-929B-4459AC4FB49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2903A6-EA42-4B2C-A177-2AF0D45E45B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FB98BA3-4D34-4F8E-B04E-C81561813E3C}" type="slidenum"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5961146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F39B0-0B92-4E36-B514-EE4BF7EA839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A73254-87AB-4B40-AECE-271E9085874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4500FEA-CE93-4330-AE25-C1CB1FE0057E}" type="datetime1">
              <a:rPr lang="nl-NL"/>
              <a:pPr lvl="0"/>
              <a:t>14-11-2025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53774E-CED6-4934-83FC-D323ECA8B3E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C2A333-A4D4-422B-A6D5-7739657A72C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394AA9A-51CF-4EB9-A234-1F4237B25A77}" type="slidenum"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028716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C39186-EED5-430A-B37D-CB1BE0A43AE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0EAF5EB-F2A7-43A7-9549-45FD408C7D0F}" type="datetime1">
              <a:rPr lang="nl-NL"/>
              <a:pPr lvl="0"/>
              <a:t>14-11-2025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511984-7DD5-4A87-8EB5-DB28E889D16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B83537-2992-493D-B6BB-5331A4FD337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3FD8F48-404C-41BF-A36E-4C1DEC2A04C7}" type="slidenum"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215546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7D4E3-E0AE-422A-8122-015CF12DCE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40632-29CE-423D-BFD3-CD10F56228E8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69E397-ABED-4539-8984-1B1F3F06C872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201DF-768A-43AC-BB79-5C9CC1270C13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10F20F8-4CB9-4625-ABC2-8F6437464197}" type="datetime1">
              <a:rPr lang="nl-NL"/>
              <a:pPr lvl="0"/>
              <a:t>14-11-2025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40AC9B-F332-4D84-977C-A46832C0C34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BC16B4-D49F-4237-9F7C-B5DE6346AD9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9B1271D-403B-47BA-90DF-9E3BB0F54714}" type="slidenum"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9719109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DF17C-6200-4B4A-98F3-B5B1130D34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C79FED-57CC-4C60-865D-E0CB2E76ED3B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lang="nl-NL" sz="3200"/>
            </a:lvl1pPr>
          </a:lstStyle>
          <a:p>
            <a:pPr lvl="0"/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A9280C-D94C-4D0D-80C9-C1B8FF0FFB31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FF625F-B748-4402-8A2F-0407A0093C4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38CEE4A-2408-410F-BF05-68AE90595830}" type="datetime1">
              <a:rPr lang="nl-NL"/>
              <a:pPr lvl="0"/>
              <a:t>14-11-2025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980C7-3860-4968-AC2C-818B03194EF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E208AF-D86D-4D9B-957F-15C0E8B8DF6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1F2A4A3-F893-413A-AF79-81D5C80C8AF1}" type="slidenum"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5339301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793BD-0FC7-426B-A239-7582944BC74B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B8323F-E75C-4EFB-BB3B-DCA95C82FFAE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BFACB4-D428-47FA-BD44-6E43C06FF71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4A366E7-BE4A-419E-8E37-D3D581A948E8}" type="datetime1">
              <a:rPr lang="nl-NL"/>
              <a:pPr lvl="0"/>
              <a:t>14-11-2025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BAF928-B2E7-4AB6-B931-7F8223325B1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7AA2D6-3DBA-4003-AC80-35EE171DC5E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6038B16-1C68-4459-9137-100AAD291828}" type="slidenum"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2761163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73C048-CD99-4837-8C0F-18E1963B9757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54DC26-C41E-4855-AD34-3F18ABEB9C88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60F35C-3C13-4A63-AFA0-831F2A067DE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7A7867A-847C-4448-ACCC-33AFE1856F0B}" type="datetime1">
              <a:rPr lang="nl-NL"/>
              <a:pPr lvl="0"/>
              <a:t>14-11-2025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F7BDC9-9607-4D85-A499-92AB1B45D297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CD7AB1-7D4E-4D2B-ABA2-30CB4E8A851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285B58A-4177-4E4F-BDF6-E9BC465C0D27}" type="slidenum"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429148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786E2-A2AD-407F-A096-CEC047B7C616}" type="datetimeFigureOut">
              <a:rPr lang="nl-NL" smtClean="0"/>
              <a:t>14-11-2025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0E25B-CC98-43BD-90C5-DE2DB36ECBF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064390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786E2-A2AD-407F-A096-CEC047B7C616}" type="datetimeFigureOut">
              <a:rPr lang="nl-NL" smtClean="0"/>
              <a:t>14-11-2025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0E25B-CC98-43BD-90C5-DE2DB36ECBF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8854887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786E2-A2AD-407F-A096-CEC047B7C616}" type="datetimeFigureOut">
              <a:rPr lang="nl-NL" smtClean="0"/>
              <a:t>14-11-2025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0E25B-CC98-43BD-90C5-DE2DB36ECBF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3277110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786E2-A2AD-407F-A096-CEC047B7C616}" type="datetimeFigureOut">
              <a:rPr lang="nl-NL" smtClean="0"/>
              <a:t>14-11-2025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0E25B-CC98-43BD-90C5-DE2DB36ECBF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3877863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786E2-A2AD-407F-A096-CEC047B7C616}" type="datetimeFigureOut">
              <a:rPr lang="nl-NL" smtClean="0"/>
              <a:t>14-11-2025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0E25B-CC98-43BD-90C5-DE2DB36ECBF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9358508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786E2-A2AD-407F-A096-CEC047B7C616}" type="datetimeFigureOut">
              <a:rPr lang="nl-NL" smtClean="0"/>
              <a:t>14-11-2025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0E25B-CC98-43BD-90C5-DE2DB36ECBF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4400781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786E2-A2AD-407F-A096-CEC047B7C616}" type="datetimeFigureOut">
              <a:rPr lang="nl-NL" smtClean="0"/>
              <a:t>14-11-2025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0E25B-CC98-43BD-90C5-DE2DB36ECBF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694826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786E2-A2AD-407F-A096-CEC047B7C616}" type="datetimeFigureOut">
              <a:rPr lang="nl-NL" smtClean="0"/>
              <a:t>14-11-2025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0E25B-CC98-43BD-90C5-DE2DB36ECBF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9769464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786E2-A2AD-407F-A096-CEC047B7C616}" type="datetimeFigureOut">
              <a:rPr lang="nl-NL" smtClean="0"/>
              <a:t>14-11-2025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0E25B-CC98-43BD-90C5-DE2DB36ECBF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5401656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786E2-A2AD-407F-A096-CEC047B7C616}" type="datetimeFigureOut">
              <a:rPr lang="nl-NL" smtClean="0"/>
              <a:t>14-11-2025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0E25B-CC98-43BD-90C5-DE2DB36ECBF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1235208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786E2-A2AD-407F-A096-CEC047B7C616}" type="datetimeFigureOut">
              <a:rPr lang="nl-NL" smtClean="0"/>
              <a:t>14-11-2025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0E25B-CC98-43BD-90C5-DE2DB36ECBF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15022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5EB517-0BCA-4DD5-8911-DBD7189972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E5ABA-9F3F-4DAF-9359-04B6D7A888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24475B-982A-482B-B538-1D32230C0364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nl-NL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B322D304-BC79-44C5-8C38-9B2EAFD7A858}" type="datetime1">
              <a:rPr lang="nl-NL"/>
              <a:pPr lvl="0"/>
              <a:t>14-11-2025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3F2203-C69F-4046-8886-DB37031E4887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nl-NL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B2F81-409E-4299-9290-2D3EF3449D2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nl-NL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8FA8D4D2-A462-4411-9A2A-982FE3CC91D2}" type="slidenum">
              <a:t>‹#›</a:t>
            </a:fld>
            <a:endParaRPr lang="nl-N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Calibri Light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1D70F9-D96B-41BD-B9FE-ED270BD1CF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408D1F-5444-428D-AF75-0C6CEE304F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A66EC5-8A5E-4BC3-A2F7-381032B9BA46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nl-NL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054FFC27-5D2E-44C5-BF50-A60ABA0B841B}" type="datetime1">
              <a:rPr lang="nl-NL"/>
              <a:pPr lvl="0"/>
              <a:t>14-11-2025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CE7B5-D152-4073-9EBD-12E76C4AF22F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nl-NL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6AA39-EE68-455A-8A7C-E813AB7CC91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nl-NL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041F524F-AE13-4C22-8936-06CAF0D422CA}" type="slidenum">
              <a:t>‹#›</a:t>
            </a:fld>
            <a:endParaRPr lang="nl-N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Calibri Light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95D9C-56E8-463D-8F77-E9BF05A37A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603256-C5CA-4392-BD45-A270AC433B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54F89-17CF-44BF-8FA5-AA43D605E281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nl-NL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F7E35A64-8696-430E-BD8D-C66B34156B77}" type="datetime1">
              <a:rPr lang="nl-NL"/>
              <a:pPr lvl="0"/>
              <a:t>14-11-2025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3779B0-BE34-47BE-B98E-CA151BC14FFF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nl-NL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878423-A6E9-456F-A772-0F81ECBE0DF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nl-NL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3C217D96-87A3-462C-8D72-7E13D2BD480A}" type="slidenum">
              <a:t>‹#›</a:t>
            </a:fld>
            <a:endParaRPr lang="nl-N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Calibri Light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2786E2-A2AD-407F-A096-CEC047B7C616}" type="datetimeFigureOut">
              <a:rPr lang="nl-NL" smtClean="0"/>
              <a:t>14-11-2025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C0E25B-CC98-43BD-90C5-DE2DB36ECBF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98166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6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5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5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5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5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28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30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3166D-CEA8-4CCF-AA4A-9631117ADB7D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251103"/>
            <a:ext cx="9144000" cy="2387598"/>
          </a:xfrm>
        </p:spPr>
        <p:txBody>
          <a:bodyPr>
            <a:normAutofit fontScale="90000"/>
          </a:bodyPr>
          <a:lstStyle/>
          <a:p>
            <a:pPr lvl="0"/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Testing HTTP-based APIs using RestAssured.Net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8C344A-42EA-41D8-97DB-21ED8F98720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38128" y="2700067"/>
            <a:ext cx="11706221" cy="3900757"/>
          </a:xfrm>
        </p:spPr>
        <p:txBody>
          <a:bodyPr anchorCtr="0"/>
          <a:lstStyle/>
          <a:p>
            <a:pPr lvl="0"/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/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An open source workshop by …</a:t>
            </a:r>
          </a:p>
          <a:p>
            <a:pPr lvl="0" algn="r"/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 algn="r"/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 algn="r"/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 algn="r"/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 algn="r"/>
            <a:endParaRPr lang="nl-NL" sz="180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 algn="r"/>
            <a:endParaRPr lang="nl-NL" sz="180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 algn="r"/>
            <a:r>
              <a:rPr lang="nl-NL" sz="1200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Originally created by Bas Dijkstra – bas@ontestautomation.com – https://www.ontestautomation.com</a:t>
            </a:r>
          </a:p>
          <a:p>
            <a:pPr lvl="0" algn="r"/>
            <a:endParaRPr lang="nl-NL" sz="180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319FE-A384-4E4D-A5C7-43D51FD0A175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What are we going to do?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83102-461B-4C36-95FD-3967A29F906B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HTTP-based APIs</a:t>
            </a: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RestAssured.Net</a:t>
            </a: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Hands-on exercises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EFC11-92DC-4E02-A03A-95058B50141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nl-NL" dirty="0" err="1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Preparation</a:t>
            </a: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BB02AD-F27B-43AB-BF80-BFD1C80CF1E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2" y="1825627"/>
            <a:ext cx="11150597" cy="4351336"/>
          </a:xfrm>
        </p:spPr>
        <p:txBody>
          <a:bodyPr/>
          <a:lstStyle/>
          <a:p>
            <a:pPr lvl="0">
              <a:lnSpc>
                <a:spcPct val="80000"/>
              </a:lnSpc>
              <a:buFont typeface="Courier New" pitchFamily="49"/>
              <a:buChar char="_"/>
            </a:pPr>
            <a:r>
              <a:rPr lang="nl-NL" dirty="0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Install a recent .NET SDK (.NET 8 or newer)</a:t>
            </a:r>
          </a:p>
          <a:p>
            <a:pPr lvl="0">
              <a:lnSpc>
                <a:spcPct val="80000"/>
              </a:lnSpc>
              <a:buFont typeface="Courier New" pitchFamily="49"/>
              <a:buChar char="_"/>
            </a:pPr>
            <a:endParaRPr lang="nl-NL" dirty="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lnSpc>
                <a:spcPct val="80000"/>
              </a:lnSpc>
              <a:buFont typeface="Courier New" pitchFamily="49"/>
              <a:buChar char="_"/>
            </a:pPr>
            <a:r>
              <a:rPr lang="nl-NL" dirty="0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Install Visual Studio (or any other IDE)</a:t>
            </a:r>
          </a:p>
          <a:p>
            <a:pPr lvl="0">
              <a:lnSpc>
                <a:spcPct val="80000"/>
              </a:lnSpc>
              <a:buFont typeface="Courier New" pitchFamily="49"/>
              <a:buChar char="_"/>
            </a:pPr>
            <a:endParaRPr lang="nl-NL" dirty="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lnSpc>
                <a:spcPct val="80000"/>
              </a:lnSpc>
              <a:buFont typeface="Courier New" pitchFamily="49"/>
              <a:buChar char="_"/>
            </a:pPr>
            <a:r>
              <a:rPr lang="nl-NL" dirty="0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Import project into your IDE</a:t>
            </a:r>
          </a:p>
          <a:p>
            <a:pPr lvl="1">
              <a:lnSpc>
                <a:spcPct val="80000"/>
              </a:lnSpc>
              <a:buFont typeface="Courier New" pitchFamily="49"/>
              <a:buChar char="_"/>
            </a:pPr>
            <a:r>
              <a:rPr lang="nl-NL" dirty="0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https://github.com/basdijkstra/rest-assured-net-workshop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450088"/>
            <a:ext cx="12192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66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 REST API request</a:t>
            </a:r>
            <a:endParaRPr kumimoji="0" lang="nl-NL" sz="6600" b="0" i="0" u="none" strike="noStrike" kern="1200" cap="none" spc="0" normalizeH="0" baseline="0" noProof="0" dirty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3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1219369" y="2612854"/>
            <a:ext cx="3016201" cy="1018866"/>
          </a:xfrm>
          <a:prstGeom prst="roundRect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HTTP method</a:t>
            </a:r>
            <a:endParaRPr kumimoji="0" lang="aa-ET" sz="24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5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4235570" y="2612854"/>
            <a:ext cx="7263441" cy="1018866"/>
          </a:xfrm>
          <a:prstGeom prst="roundRect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Endpoints</a:t>
            </a:r>
            <a:endParaRPr kumimoji="0" lang="aa-ET" sz="2400" b="0" i="0" u="none" strike="noStrike" kern="1200" cap="none" spc="0" normalizeH="0" baseline="0" noProof="0" dirty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6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1219369" y="3631720"/>
            <a:ext cx="6259733" cy="1018866"/>
          </a:xfrm>
          <a:prstGeom prst="roundRect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Request headers</a:t>
            </a:r>
            <a:endParaRPr kumimoji="0" lang="aa-ET" sz="24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7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1219369" y="4650586"/>
            <a:ext cx="6259733" cy="1018866"/>
          </a:xfrm>
          <a:prstGeom prst="roundRect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Request body</a:t>
            </a:r>
            <a:endParaRPr kumimoji="0" lang="aa-ET" sz="24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1396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22498" y="450088"/>
            <a:ext cx="686950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66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HTTP methods</a:t>
            </a:r>
            <a:endParaRPr kumimoji="0" lang="nl-NL" sz="6600" b="0" i="0" u="none" strike="noStrike" kern="1200" cap="none" spc="0" normalizeH="0" baseline="0" noProof="0" dirty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3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342777" y="303442"/>
            <a:ext cx="983412" cy="439946"/>
          </a:xfrm>
          <a:prstGeom prst="roundRect">
            <a:avLst/>
          </a:prstGeom>
          <a:solidFill>
            <a:srgbClr val="00FF00"/>
          </a:solidFill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HTTP method</a:t>
            </a:r>
            <a:endParaRPr kumimoji="0" lang="aa-ET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5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1326189" y="303442"/>
            <a:ext cx="2368196" cy="439946"/>
          </a:xfrm>
          <a:prstGeom prst="roundRect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Endpoints</a:t>
            </a:r>
            <a:endParaRPr kumimoji="0" lang="aa-ET" sz="1200" b="0" i="0" u="none" strike="noStrike" kern="1200" cap="none" spc="0" normalizeH="0" baseline="0" noProof="0" dirty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6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342777" y="743388"/>
            <a:ext cx="2040944" cy="439946"/>
          </a:xfrm>
          <a:prstGeom prst="roundRect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Request headers</a:t>
            </a:r>
            <a:endParaRPr kumimoji="0" lang="aa-ET" sz="12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7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342777" y="1183334"/>
            <a:ext cx="2040944" cy="439946"/>
          </a:xfrm>
          <a:prstGeom prst="roundRect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Request body</a:t>
            </a:r>
            <a:endParaRPr kumimoji="0" lang="aa-ET" sz="12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834483" y="1998030"/>
            <a:ext cx="11143891" cy="4803775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GET, POST, PUT, PATCH, DELETE, OPTIONS, …</a:t>
            </a:r>
            <a:endParaRPr lang="nl-NL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Courier New" panose="02070309020205020404" pitchFamily="49" charset="0"/>
              <a:buChar char="_"/>
            </a:pPr>
            <a:endParaRPr lang="nl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CRUD operations on </a:t>
            </a:r>
            <a:r>
              <a:rPr lang="nl-NL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</a:t>
            </a:r>
          </a:p>
          <a:p>
            <a:pPr marL="457200" lvl="1" indent="0">
              <a:buNone/>
            </a:pPr>
            <a:r>
              <a:rPr lang="nl-NL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POST</a:t>
            </a: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Create</a:t>
            </a:r>
            <a:endParaRPr lang="nl-NL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nl-NL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Read</a:t>
            </a:r>
            <a:endParaRPr lang="nl-NL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PUT / PATCH	</a:t>
            </a:r>
            <a:r>
              <a:rPr lang="nl-NL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Update</a:t>
            </a:r>
          </a:p>
          <a:p>
            <a:pPr marL="457200" lvl="1" indent="0">
              <a:buNone/>
            </a:pPr>
            <a:r>
              <a:rPr lang="nl-NL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DELETE</a:t>
            </a: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Delete</a:t>
            </a:r>
            <a:endParaRPr lang="nl-NL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nl-NL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	</a:t>
            </a: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…</a:t>
            </a:r>
            <a:endParaRPr lang="nl-NL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Conventions, not standards!</a:t>
            </a:r>
          </a:p>
          <a:p>
            <a:pPr>
              <a:buFont typeface="Courier New" panose="02070309020205020404" pitchFamily="49" charset="0"/>
              <a:buChar char="_"/>
            </a:pPr>
            <a:endParaRPr lang="nl-NL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Courier New" panose="02070309020205020404" pitchFamily="49" charset="0"/>
              <a:buChar char="_"/>
            </a:pPr>
            <a:endParaRPr lang="nl-NL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3163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22498" y="450088"/>
            <a:ext cx="68695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40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Endpoints</a:t>
            </a:r>
          </a:p>
        </p:txBody>
      </p:sp>
      <p:sp>
        <p:nvSpPr>
          <p:cNvPr id="3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342777" y="303442"/>
            <a:ext cx="983412" cy="439946"/>
          </a:xfrm>
          <a:prstGeom prst="roundRect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HTTP method</a:t>
            </a:r>
            <a:endParaRPr kumimoji="0" lang="aa-ET" sz="12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5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1326189" y="303442"/>
            <a:ext cx="2368196" cy="439946"/>
          </a:xfrm>
          <a:prstGeom prst="roundRect">
            <a:avLst/>
          </a:prstGeom>
          <a:solidFill>
            <a:srgbClr val="00FF00"/>
          </a:solidFill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Endpoints</a:t>
            </a:r>
            <a:endParaRPr kumimoji="0" lang="aa-ET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6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342777" y="743388"/>
            <a:ext cx="2040944" cy="439946"/>
          </a:xfrm>
          <a:prstGeom prst="roundRect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Request headers</a:t>
            </a:r>
            <a:endParaRPr kumimoji="0" lang="aa-ET" sz="12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7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342777" y="1183334"/>
            <a:ext cx="2040944" cy="439946"/>
          </a:xfrm>
          <a:prstGeom prst="roundRect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Request body</a:t>
            </a:r>
            <a:endParaRPr kumimoji="0" lang="aa-ET" sz="12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834483" y="1998030"/>
            <a:ext cx="11143891" cy="4803775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_"/>
            </a:pPr>
            <a:r>
              <a:rPr lang="nl-NL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Uniquely identifies the operation to perform and / or the resource to operate on</a:t>
            </a:r>
          </a:p>
          <a:p>
            <a:pPr marL="0" indent="0">
              <a:buNone/>
            </a:pPr>
            <a:endParaRPr lang="nl-NL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Courier New" panose="02070309020205020404" pitchFamily="49" charset="0"/>
              <a:buChar char="_"/>
            </a:pPr>
            <a:r>
              <a:rPr lang="nl-NL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Can contain parameters</a:t>
            </a:r>
          </a:p>
          <a:p>
            <a:pPr lvl="1">
              <a:buFont typeface="Courier New" panose="02070309020205020404" pitchFamily="49" charset="0"/>
              <a:buChar char="_"/>
            </a:pPr>
            <a:r>
              <a:rPr lang="nl-NL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Query parameters</a:t>
            </a:r>
          </a:p>
          <a:p>
            <a:pPr lvl="1">
              <a:buFont typeface="Courier New" panose="02070309020205020404" pitchFamily="49" charset="0"/>
              <a:buChar char="_"/>
            </a:pPr>
            <a:r>
              <a:rPr lang="nl-NL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Path parameters</a:t>
            </a:r>
          </a:p>
          <a:p>
            <a:pPr>
              <a:buFont typeface="Courier New" panose="02070309020205020404" pitchFamily="49" charset="0"/>
              <a:buChar char="_"/>
            </a:pPr>
            <a:endParaRPr lang="nl-NL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Courier New" panose="02070309020205020404" pitchFamily="49" charset="0"/>
              <a:buChar char="_"/>
            </a:pPr>
            <a:endParaRPr lang="nl-NL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1063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F0D27-91A1-4529-B8AC-39B103A2BD21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4483" y="2063226"/>
            <a:ext cx="10515600" cy="4351336"/>
          </a:xfrm>
        </p:spPr>
        <p:txBody>
          <a:bodyPr/>
          <a:lstStyle/>
          <a:p>
            <a:pPr lvl="0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Path parameters</a:t>
            </a:r>
          </a:p>
          <a:p>
            <a:pPr lvl="1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http://api.zippopotam.us/</a:t>
            </a:r>
            <a:r>
              <a:rPr lang="nl-NL">
                <a:solidFill>
                  <a:srgbClr val="FF0000"/>
                </a:solidFill>
                <a:latin typeface="Courier New" pitchFamily="49"/>
                <a:cs typeface="Courier New" pitchFamily="49"/>
              </a:rPr>
              <a:t>us</a:t>
            </a: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/</a:t>
            </a:r>
            <a:r>
              <a:rPr lang="nl-NL">
                <a:solidFill>
                  <a:srgbClr val="FF0000"/>
                </a:solidFill>
                <a:latin typeface="Courier New" pitchFamily="49"/>
                <a:cs typeface="Courier New" pitchFamily="49"/>
              </a:rPr>
              <a:t>90210</a:t>
            </a:r>
          </a:p>
          <a:p>
            <a:pPr lvl="1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http://api.zippopotam.us/</a:t>
            </a:r>
            <a:r>
              <a:rPr lang="nl-NL">
                <a:solidFill>
                  <a:srgbClr val="FF0000"/>
                </a:solidFill>
                <a:latin typeface="Courier New" pitchFamily="49"/>
                <a:cs typeface="Courier New" pitchFamily="49"/>
              </a:rPr>
              <a:t>ca</a:t>
            </a: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/</a:t>
            </a:r>
            <a:r>
              <a:rPr lang="nl-NL">
                <a:solidFill>
                  <a:srgbClr val="FF0000"/>
                </a:solidFill>
                <a:latin typeface="Courier New" pitchFamily="49"/>
                <a:cs typeface="Courier New" pitchFamily="49"/>
              </a:rPr>
              <a:t>B2A</a:t>
            </a: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Query parameters</a:t>
            </a:r>
          </a:p>
          <a:p>
            <a:pPr lvl="1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http://md5.jsontest.com/?</a:t>
            </a:r>
            <a:r>
              <a:rPr lang="nl-NL">
                <a:solidFill>
                  <a:srgbClr val="FF0000"/>
                </a:solidFill>
                <a:latin typeface="Courier New" pitchFamily="49"/>
                <a:cs typeface="Courier New" pitchFamily="49"/>
              </a:rPr>
              <a:t>text</a:t>
            </a: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=</a:t>
            </a:r>
            <a:r>
              <a:rPr lang="nl-NL">
                <a:solidFill>
                  <a:srgbClr val="0070C0"/>
                </a:solidFill>
                <a:latin typeface="Courier New" pitchFamily="49"/>
                <a:cs typeface="Courier New" pitchFamily="49"/>
              </a:rPr>
              <a:t>testcaseOne</a:t>
            </a:r>
          </a:p>
          <a:p>
            <a:pPr lvl="1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http://md5.jsontest.com/?</a:t>
            </a:r>
            <a:r>
              <a:rPr lang="nl-NL">
                <a:solidFill>
                  <a:srgbClr val="FF0000"/>
                </a:solidFill>
                <a:latin typeface="Courier New" pitchFamily="49"/>
                <a:cs typeface="Courier New" pitchFamily="49"/>
              </a:rPr>
              <a:t>text</a:t>
            </a: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=</a:t>
            </a:r>
            <a:r>
              <a:rPr lang="nl-NL">
                <a:solidFill>
                  <a:srgbClr val="0070C0"/>
                </a:solidFill>
                <a:latin typeface="Courier New" pitchFamily="49"/>
                <a:cs typeface="Courier New" pitchFamily="49"/>
              </a:rPr>
              <a:t>testcaseTwo</a:t>
            </a: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There is no official standard!</a:t>
            </a: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5322498" y="450088"/>
            <a:ext cx="68695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40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Endpoint parameters</a:t>
            </a:r>
          </a:p>
        </p:txBody>
      </p:sp>
      <p:sp>
        <p:nvSpPr>
          <p:cNvPr id="6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342777" y="303442"/>
            <a:ext cx="983412" cy="439946"/>
          </a:xfrm>
          <a:prstGeom prst="roundRect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HTTP method</a:t>
            </a:r>
            <a:endParaRPr kumimoji="0" lang="aa-ET" sz="12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7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1326189" y="303442"/>
            <a:ext cx="2368196" cy="439946"/>
          </a:xfrm>
          <a:prstGeom prst="roundRect">
            <a:avLst/>
          </a:prstGeom>
          <a:solidFill>
            <a:srgbClr val="00FF00"/>
          </a:solidFill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Endpoints</a:t>
            </a:r>
            <a:endParaRPr kumimoji="0" lang="aa-ET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8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342777" y="743388"/>
            <a:ext cx="2040944" cy="439946"/>
          </a:xfrm>
          <a:prstGeom prst="roundRect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Request headers</a:t>
            </a:r>
            <a:endParaRPr kumimoji="0" lang="aa-ET" sz="12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9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342777" y="1183334"/>
            <a:ext cx="2040944" cy="439946"/>
          </a:xfrm>
          <a:prstGeom prst="roundRect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Request body</a:t>
            </a:r>
            <a:endParaRPr kumimoji="0" lang="aa-ET" sz="12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342777" y="303442"/>
            <a:ext cx="983412" cy="439946"/>
          </a:xfrm>
          <a:prstGeom prst="roundRect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HTTP method</a:t>
            </a:r>
            <a:endParaRPr kumimoji="0" lang="aa-ET" sz="12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5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1326189" y="303442"/>
            <a:ext cx="2368196" cy="439946"/>
          </a:xfrm>
          <a:prstGeom prst="roundRect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Endpoints</a:t>
            </a:r>
            <a:endParaRPr kumimoji="0" lang="aa-ET" sz="1200" b="0" i="0" u="none" strike="noStrike" kern="1200" cap="none" spc="0" normalizeH="0" baseline="0" noProof="0" dirty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6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342777" y="743388"/>
            <a:ext cx="2040944" cy="439946"/>
          </a:xfrm>
          <a:prstGeom prst="roundRect">
            <a:avLst/>
          </a:prstGeom>
          <a:solidFill>
            <a:srgbClr val="00FF00"/>
          </a:solidFill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Request headers</a:t>
            </a:r>
            <a:endParaRPr kumimoji="0" lang="aa-ET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7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342777" y="1183334"/>
            <a:ext cx="2040944" cy="439946"/>
          </a:xfrm>
          <a:prstGeom prst="roundRect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Request body</a:t>
            </a:r>
            <a:endParaRPr kumimoji="0" lang="aa-ET" sz="12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834483" y="1998030"/>
            <a:ext cx="11143891" cy="4803775"/>
          </a:xfrm>
        </p:spPr>
        <p:txBody>
          <a:bodyPr>
            <a:normAutofit lnSpcReduction="10000"/>
          </a:bodyPr>
          <a:lstStyle/>
          <a:p>
            <a:pPr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Key-value pairs</a:t>
            </a:r>
          </a:p>
          <a:p>
            <a:pPr>
              <a:buFont typeface="Courier New" panose="02070309020205020404" pitchFamily="49" charset="0"/>
              <a:buChar char="_"/>
            </a:pPr>
            <a:endParaRPr lang="nl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Can contain metadata about the request body</a:t>
            </a:r>
          </a:p>
          <a:p>
            <a:pPr lvl="1"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Content-Type (what data format is the request body in?)</a:t>
            </a:r>
          </a:p>
          <a:p>
            <a:pPr lvl="1"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Accept (what data format would I like the response body to be in?)</a:t>
            </a:r>
          </a:p>
          <a:p>
            <a:pPr lvl="1"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pPr>
              <a:buFont typeface="Courier New" panose="02070309020205020404" pitchFamily="49" charset="0"/>
              <a:buChar char="_"/>
            </a:pPr>
            <a:endParaRPr lang="nl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Can contain session and authorization data</a:t>
            </a:r>
          </a:p>
          <a:p>
            <a:pPr lvl="1"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Cookies</a:t>
            </a:r>
          </a:p>
          <a:p>
            <a:pPr lvl="1"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Authorization tokens</a:t>
            </a:r>
            <a:endParaRPr lang="nl-NL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endParaRPr lang="nl-NL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3"/>
          <p:cNvSpPr txBox="1"/>
          <p:nvPr/>
        </p:nvSpPr>
        <p:spPr>
          <a:xfrm>
            <a:off x="4261449" y="450088"/>
            <a:ext cx="793055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66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Request headers</a:t>
            </a:r>
            <a:endParaRPr kumimoji="0" lang="nl-NL" sz="6600" b="0" i="0" u="none" strike="noStrike" kern="1200" cap="none" spc="0" normalizeH="0" baseline="0" noProof="0" dirty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47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342777" y="303442"/>
            <a:ext cx="983412" cy="439946"/>
          </a:xfrm>
          <a:prstGeom prst="roundRect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HTTP method</a:t>
            </a:r>
            <a:endParaRPr kumimoji="0" lang="aa-ET" sz="12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5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1326189" y="303442"/>
            <a:ext cx="2368196" cy="439946"/>
          </a:xfrm>
          <a:prstGeom prst="roundRect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Endpoints</a:t>
            </a:r>
            <a:endParaRPr kumimoji="0" lang="aa-ET" sz="1200" b="0" i="0" u="none" strike="noStrike" kern="1200" cap="none" spc="0" normalizeH="0" baseline="0" noProof="0" dirty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6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342777" y="743388"/>
            <a:ext cx="2040944" cy="439946"/>
          </a:xfrm>
          <a:prstGeom prst="roundRect">
            <a:avLst/>
          </a:prstGeom>
          <a:solidFill>
            <a:srgbClr val="00FF00"/>
          </a:solidFill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Request headers</a:t>
            </a:r>
            <a:endParaRPr kumimoji="0" lang="aa-ET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7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342777" y="1183334"/>
            <a:ext cx="2040944" cy="439946"/>
          </a:xfrm>
          <a:prstGeom prst="roundRect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Request body</a:t>
            </a:r>
            <a:endParaRPr kumimoji="0" lang="aa-ET" sz="12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834483" y="1998030"/>
            <a:ext cx="11143891" cy="4803775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Username and password sent with every request</a:t>
            </a:r>
          </a:p>
          <a:p>
            <a:pPr>
              <a:buFont typeface="Courier New" panose="02070309020205020404" pitchFamily="49" charset="0"/>
              <a:buChar char="_"/>
            </a:pPr>
            <a:endParaRPr lang="nl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Base64 encoded (not at all secure!)</a:t>
            </a:r>
          </a:p>
          <a:p>
            <a:pPr>
              <a:buFont typeface="Courier New" panose="02070309020205020404" pitchFamily="49" charset="0"/>
              <a:buChar char="_"/>
            </a:pPr>
            <a:endParaRPr lang="nl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Ex: username = aladdin and password = opensesame</a:t>
            </a:r>
          </a:p>
          <a:p>
            <a:pPr>
              <a:buFont typeface="Courier New" panose="02070309020205020404" pitchFamily="49" charset="0"/>
              <a:buChar char="_"/>
            </a:pPr>
            <a:endParaRPr lang="nl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i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Authorization: Basic YWxhZGRpbjpvcGVuc2VzYW1l</a:t>
            </a:r>
            <a:endParaRPr lang="nl-NL" i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3"/>
          <p:cNvSpPr txBox="1"/>
          <p:nvPr/>
        </p:nvSpPr>
        <p:spPr>
          <a:xfrm>
            <a:off x="4261449" y="450088"/>
            <a:ext cx="79305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44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Authorization: Basic</a:t>
            </a:r>
            <a:endParaRPr kumimoji="0" lang="nl-NL" sz="4400" b="0" i="0" u="none" strike="noStrike" kern="1200" cap="none" spc="0" normalizeH="0" baseline="0" noProof="0" dirty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10" name="Oval 4">
            <a:extLst>
              <a:ext uri="{FF2B5EF4-FFF2-40B4-BE49-F238E27FC236}">
                <a16:creationId xmlns:a16="http://schemas.microsoft.com/office/drawing/2014/main" id="{A8630A86-8290-467A-AE7B-91CEDEBDD3CF}"/>
              </a:ext>
            </a:extLst>
          </p:cNvPr>
          <p:cNvSpPr/>
          <p:nvPr/>
        </p:nvSpPr>
        <p:spPr>
          <a:xfrm flipV="1">
            <a:off x="3952875" y="5079618"/>
            <a:ext cx="1400174" cy="436748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Oval 4">
            <a:extLst>
              <a:ext uri="{FF2B5EF4-FFF2-40B4-BE49-F238E27FC236}">
                <a16:creationId xmlns:a16="http://schemas.microsoft.com/office/drawing/2014/main" id="{4CB1C617-FCCE-49D1-989F-48068A419F9E}"/>
              </a:ext>
            </a:extLst>
          </p:cNvPr>
          <p:cNvSpPr/>
          <p:nvPr/>
        </p:nvSpPr>
        <p:spPr>
          <a:xfrm flipV="1">
            <a:off x="5353048" y="5079618"/>
            <a:ext cx="5562601" cy="436748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1114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10" grpId="0" animBg="1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342777" y="303442"/>
            <a:ext cx="983412" cy="439946"/>
          </a:xfrm>
          <a:prstGeom prst="roundRect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HTTP method</a:t>
            </a:r>
            <a:endParaRPr kumimoji="0" lang="aa-ET" sz="12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5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1326189" y="303442"/>
            <a:ext cx="2368196" cy="439946"/>
          </a:xfrm>
          <a:prstGeom prst="roundRect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Endpoints</a:t>
            </a:r>
            <a:endParaRPr kumimoji="0" lang="aa-ET" sz="1200" b="0" i="0" u="none" strike="noStrike" kern="1200" cap="none" spc="0" normalizeH="0" baseline="0" noProof="0" dirty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6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342777" y="743388"/>
            <a:ext cx="2040944" cy="439946"/>
          </a:xfrm>
          <a:prstGeom prst="roundRect">
            <a:avLst/>
          </a:prstGeom>
          <a:solidFill>
            <a:srgbClr val="00FF00"/>
          </a:solidFill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Request headers</a:t>
            </a:r>
            <a:endParaRPr kumimoji="0" lang="aa-ET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7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342777" y="1183334"/>
            <a:ext cx="2040944" cy="439946"/>
          </a:xfrm>
          <a:prstGeom prst="roundRect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Request body</a:t>
            </a:r>
            <a:endParaRPr kumimoji="0" lang="aa-ET" sz="12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834483" y="1998030"/>
            <a:ext cx="11143891" cy="4803775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Token with expiry date is obtained first</a:t>
            </a:r>
          </a:p>
          <a:p>
            <a:pPr>
              <a:buFont typeface="Courier New" panose="02070309020205020404" pitchFamily="49" charset="0"/>
              <a:buChar char="_"/>
            </a:pPr>
            <a:endParaRPr lang="nl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Token is then sent with all subsequent requests</a:t>
            </a:r>
          </a:p>
          <a:p>
            <a:pPr>
              <a:buFont typeface="Courier New" panose="02070309020205020404" pitchFamily="49" charset="0"/>
              <a:buChar char="_"/>
            </a:pPr>
            <a:endParaRPr lang="nl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Most common mechanism is OAuth(2)</a:t>
            </a:r>
          </a:p>
          <a:p>
            <a:pPr>
              <a:buFont typeface="Courier New" panose="02070309020205020404" pitchFamily="49" charset="0"/>
              <a:buChar char="_"/>
            </a:pPr>
            <a:endParaRPr lang="nl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JWT is a common token format</a:t>
            </a:r>
          </a:p>
          <a:p>
            <a:pPr>
              <a:buFont typeface="Courier New" panose="02070309020205020404" pitchFamily="49" charset="0"/>
              <a:buChar char="_"/>
            </a:pPr>
            <a:endParaRPr lang="nl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i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Authorization: Bearer RsT5OjbzRn430zqMLgV3Ia</a:t>
            </a:r>
            <a:endParaRPr lang="nl-NL" i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3"/>
          <p:cNvSpPr txBox="1"/>
          <p:nvPr/>
        </p:nvSpPr>
        <p:spPr>
          <a:xfrm>
            <a:off x="4261449" y="450088"/>
            <a:ext cx="79305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44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Authorization: Bearer</a:t>
            </a:r>
            <a:endParaRPr kumimoji="0" lang="nl-NL" sz="4400" b="0" i="0" u="none" strike="noStrike" kern="1200" cap="none" spc="0" normalizeH="0" baseline="0" noProof="0" dirty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10" name="Oval 4">
            <a:extLst>
              <a:ext uri="{FF2B5EF4-FFF2-40B4-BE49-F238E27FC236}">
                <a16:creationId xmlns:a16="http://schemas.microsoft.com/office/drawing/2014/main" id="{A8630A86-8290-467A-AE7B-91CEDEBDD3CF}"/>
              </a:ext>
            </a:extLst>
          </p:cNvPr>
          <p:cNvSpPr/>
          <p:nvPr/>
        </p:nvSpPr>
        <p:spPr>
          <a:xfrm flipV="1">
            <a:off x="3952873" y="6112688"/>
            <a:ext cx="1638301" cy="436748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Oval 4">
            <a:extLst>
              <a:ext uri="{FF2B5EF4-FFF2-40B4-BE49-F238E27FC236}">
                <a16:creationId xmlns:a16="http://schemas.microsoft.com/office/drawing/2014/main" id="{4CB1C617-FCCE-49D1-989F-48068A419F9E}"/>
              </a:ext>
            </a:extLst>
          </p:cNvPr>
          <p:cNvSpPr/>
          <p:nvPr/>
        </p:nvSpPr>
        <p:spPr>
          <a:xfrm flipV="1">
            <a:off x="5445423" y="6112688"/>
            <a:ext cx="5562601" cy="436748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4836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10" grpId="0" animBg="1"/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342777" y="303442"/>
            <a:ext cx="983412" cy="439946"/>
          </a:xfrm>
          <a:prstGeom prst="roundRect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HTTP method</a:t>
            </a:r>
            <a:endParaRPr kumimoji="0" lang="aa-ET" sz="12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5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1326189" y="303442"/>
            <a:ext cx="2368196" cy="439946"/>
          </a:xfrm>
          <a:prstGeom prst="roundRect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Endpoints</a:t>
            </a:r>
            <a:endParaRPr kumimoji="0" lang="aa-ET" sz="1200" b="0" i="0" u="none" strike="noStrike" kern="1200" cap="none" spc="0" normalizeH="0" baseline="0" noProof="0" dirty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6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342777" y="743388"/>
            <a:ext cx="2040944" cy="439946"/>
          </a:xfrm>
          <a:prstGeom prst="roundRect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Request headers</a:t>
            </a:r>
            <a:endParaRPr kumimoji="0" lang="aa-ET" sz="12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7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342777" y="1183334"/>
            <a:ext cx="2040944" cy="439946"/>
          </a:xfrm>
          <a:prstGeom prst="roundRect">
            <a:avLst/>
          </a:prstGeom>
          <a:solidFill>
            <a:srgbClr val="00FF00"/>
          </a:solidFill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Request body</a:t>
            </a:r>
            <a:endParaRPr kumimoji="0" lang="aa-ET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834483" y="1998030"/>
            <a:ext cx="11143891" cy="4803775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 to be sent to the provider</a:t>
            </a:r>
          </a:p>
          <a:p>
            <a:pPr>
              <a:buFont typeface="Courier New" panose="02070309020205020404" pitchFamily="49" charset="0"/>
              <a:buChar char="_"/>
            </a:pPr>
            <a:endParaRPr lang="nl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REST does not prescribe a specific data format</a:t>
            </a:r>
          </a:p>
          <a:p>
            <a:pPr>
              <a:buFont typeface="Courier New" panose="02070309020205020404" pitchFamily="49" charset="0"/>
              <a:buChar char="_"/>
            </a:pPr>
            <a:endParaRPr lang="nl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Most common:</a:t>
            </a:r>
          </a:p>
          <a:p>
            <a:pPr lvl="1"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JSON</a:t>
            </a:r>
          </a:p>
          <a:p>
            <a:pPr lvl="1"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XML</a:t>
            </a:r>
          </a:p>
          <a:p>
            <a:pPr lvl="1"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Plain text</a:t>
            </a:r>
          </a:p>
          <a:p>
            <a:pPr>
              <a:buFont typeface="Courier New" panose="02070309020205020404" pitchFamily="49" charset="0"/>
              <a:buChar char="_"/>
            </a:pPr>
            <a:endParaRPr lang="nl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Other data formats can be sent using REST, too</a:t>
            </a:r>
            <a:endParaRPr lang="nl-NL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3"/>
          <p:cNvSpPr txBox="1"/>
          <p:nvPr/>
        </p:nvSpPr>
        <p:spPr>
          <a:xfrm>
            <a:off x="4261449" y="450088"/>
            <a:ext cx="793055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66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Request body</a:t>
            </a:r>
            <a:endParaRPr kumimoji="0" lang="nl-NL" sz="6600" b="0" i="0" u="none" strike="noStrike" kern="1200" cap="none" spc="0" normalizeH="0" baseline="0" noProof="0" dirty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7605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450088"/>
            <a:ext cx="12192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66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 REST API response</a:t>
            </a:r>
            <a:endParaRPr kumimoji="0" lang="nl-NL" sz="6600" b="0" i="0" u="none" strike="noStrike" kern="1200" cap="none" spc="0" normalizeH="0" baseline="0" noProof="0" dirty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3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3013664" y="2612854"/>
            <a:ext cx="6259733" cy="1018866"/>
          </a:xfrm>
          <a:prstGeom prst="roundRect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HTTP status code</a:t>
            </a:r>
            <a:endParaRPr kumimoji="0" lang="aa-ET" sz="24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6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3013664" y="3631720"/>
            <a:ext cx="6259733" cy="1018866"/>
          </a:xfrm>
          <a:prstGeom prst="roundRect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Response headers</a:t>
            </a:r>
            <a:endParaRPr kumimoji="0" lang="aa-ET" sz="24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7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3013664" y="4650586"/>
            <a:ext cx="6259733" cy="1018866"/>
          </a:xfrm>
          <a:prstGeom prst="roundRect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Response body</a:t>
            </a:r>
            <a:endParaRPr kumimoji="0" lang="aa-ET" sz="24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3538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73260" y="450088"/>
            <a:ext cx="831874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66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HTTP status code</a:t>
            </a:r>
            <a:endParaRPr kumimoji="0" lang="nl-NL" sz="6600" b="0" i="0" u="none" strike="noStrike" kern="1200" cap="none" spc="0" normalizeH="0" baseline="0" noProof="0" dirty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3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342777" y="303442"/>
            <a:ext cx="2040944" cy="439946"/>
          </a:xfrm>
          <a:prstGeom prst="roundRect">
            <a:avLst/>
          </a:prstGeom>
          <a:solidFill>
            <a:srgbClr val="00FF00"/>
          </a:solidFill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HTTP status code</a:t>
            </a:r>
            <a:endParaRPr kumimoji="0" lang="aa-ET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6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342777" y="743388"/>
            <a:ext cx="2040944" cy="439946"/>
          </a:xfrm>
          <a:prstGeom prst="roundRect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Response headers</a:t>
            </a:r>
            <a:endParaRPr kumimoji="0" lang="aa-ET" sz="12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7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342777" y="1183334"/>
            <a:ext cx="2040944" cy="439946"/>
          </a:xfrm>
          <a:prstGeom prst="roundRect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Response body</a:t>
            </a:r>
            <a:endParaRPr kumimoji="0" lang="aa-ET" sz="12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817231" y="1911766"/>
            <a:ext cx="11143891" cy="4661563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_"/>
            </a:pPr>
            <a:r>
              <a:rPr lang="nl-NL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Indicates result of request processing by provider</a:t>
            </a:r>
          </a:p>
          <a:p>
            <a:pPr>
              <a:buFont typeface="Courier New" panose="02070309020205020404" pitchFamily="49" charset="0"/>
              <a:buChar char="_"/>
            </a:pPr>
            <a:endParaRPr lang="nl-NL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Courier New" panose="02070309020205020404" pitchFamily="49" charset="0"/>
              <a:buChar char="_"/>
            </a:pPr>
            <a:r>
              <a:rPr lang="nl-NL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Five different categories</a:t>
            </a:r>
          </a:p>
          <a:p>
            <a:pPr>
              <a:buFont typeface="Courier New" panose="02070309020205020404" pitchFamily="49" charset="0"/>
              <a:buChar char="_"/>
            </a:pPr>
            <a:endParaRPr lang="nl-NL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Courier New" panose="02070309020205020404" pitchFamily="49" charset="0"/>
              <a:buChar char="_"/>
            </a:pPr>
            <a:r>
              <a:rPr lang="nl-NL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1XX		Informational	100 Continue</a:t>
            </a:r>
          </a:p>
          <a:p>
            <a:pPr>
              <a:buFont typeface="Courier New" panose="02070309020205020404" pitchFamily="49" charset="0"/>
              <a:buChar char="_"/>
            </a:pPr>
            <a:r>
              <a:rPr lang="nl-NL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2XX		Success			200 OK</a:t>
            </a:r>
          </a:p>
          <a:p>
            <a:pPr>
              <a:buFont typeface="Courier New" panose="02070309020205020404" pitchFamily="49" charset="0"/>
              <a:buChar char="_"/>
            </a:pPr>
            <a:r>
              <a:rPr lang="nl-NL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3XX		Redirection		301 Moved Permanently</a:t>
            </a:r>
          </a:p>
          <a:p>
            <a:pPr>
              <a:buFont typeface="Courier New" panose="02070309020205020404" pitchFamily="49" charset="0"/>
              <a:buChar char="_"/>
            </a:pPr>
            <a:r>
              <a:rPr lang="nl-NL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4XX		Consumer errors	400 Bad Request</a:t>
            </a:r>
          </a:p>
          <a:p>
            <a:pPr>
              <a:buFont typeface="Courier New" panose="02070309020205020404" pitchFamily="49" charset="0"/>
              <a:buChar char="_"/>
            </a:pPr>
            <a:r>
              <a:rPr lang="nl-NL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5XX		Provider errors	500 Internal Server Error</a:t>
            </a:r>
          </a:p>
        </p:txBody>
      </p:sp>
    </p:spTree>
    <p:extLst>
      <p:ext uri="{BB962C8B-B14F-4D97-AF65-F5344CB8AC3E}">
        <p14:creationId xmlns:p14="http://schemas.microsoft.com/office/powerpoint/2010/main" val="4231026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73260" y="450088"/>
            <a:ext cx="831874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66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Response headers</a:t>
            </a:r>
            <a:endParaRPr kumimoji="0" lang="nl-NL" sz="6600" b="0" i="0" u="none" strike="noStrike" kern="1200" cap="none" spc="0" normalizeH="0" baseline="0" noProof="0" dirty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3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342777" y="303442"/>
            <a:ext cx="2040944" cy="439946"/>
          </a:xfrm>
          <a:prstGeom prst="roundRect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HTTP status code</a:t>
            </a:r>
            <a:endParaRPr kumimoji="0" lang="aa-ET" sz="12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6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342777" y="743388"/>
            <a:ext cx="2040944" cy="439946"/>
          </a:xfrm>
          <a:prstGeom prst="roundRect">
            <a:avLst/>
          </a:prstGeom>
          <a:solidFill>
            <a:srgbClr val="00FF00"/>
          </a:solidFill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Response headers</a:t>
            </a:r>
            <a:endParaRPr kumimoji="0" lang="aa-ET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7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342777" y="1183334"/>
            <a:ext cx="2040944" cy="439946"/>
          </a:xfrm>
          <a:prstGeom prst="roundRect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Response body</a:t>
            </a:r>
            <a:endParaRPr kumimoji="0" lang="aa-ET" sz="12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834483" y="1998030"/>
            <a:ext cx="11143891" cy="4803775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Key-value pairs</a:t>
            </a:r>
          </a:p>
          <a:p>
            <a:pPr>
              <a:buFont typeface="Courier New" panose="02070309020205020404" pitchFamily="49" charset="0"/>
              <a:buChar char="_"/>
            </a:pPr>
            <a:endParaRPr lang="nl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Can contain metadata about the response body</a:t>
            </a:r>
          </a:p>
          <a:p>
            <a:pPr lvl="1"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Content-Type (what data format is the response body in?)</a:t>
            </a:r>
          </a:p>
          <a:p>
            <a:pPr lvl="1"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Content-Length (how many bytes in the response body?)</a:t>
            </a:r>
          </a:p>
          <a:p>
            <a:pPr>
              <a:buFont typeface="Courier New" panose="02070309020205020404" pitchFamily="49" charset="0"/>
              <a:buChar char="_"/>
            </a:pPr>
            <a:endParaRPr lang="nl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Can contain provider-specific data</a:t>
            </a:r>
          </a:p>
          <a:p>
            <a:pPr lvl="1"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Caching-related headers</a:t>
            </a:r>
          </a:p>
          <a:p>
            <a:pPr lvl="1"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Information about the server type </a:t>
            </a:r>
            <a:endParaRPr lang="nl-NL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9180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73260" y="450088"/>
            <a:ext cx="831874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66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Response body</a:t>
            </a:r>
            <a:endParaRPr kumimoji="0" lang="nl-NL" sz="6600" b="0" i="0" u="none" strike="noStrike" kern="1200" cap="none" spc="0" normalizeH="0" baseline="0" noProof="0" dirty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3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342777" y="303442"/>
            <a:ext cx="2040944" cy="439946"/>
          </a:xfrm>
          <a:prstGeom prst="roundRect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HTTP status code</a:t>
            </a:r>
            <a:endParaRPr kumimoji="0" lang="aa-ET" sz="12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6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342777" y="743388"/>
            <a:ext cx="2040944" cy="439946"/>
          </a:xfrm>
          <a:prstGeom prst="roundRect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Response headers</a:t>
            </a:r>
            <a:endParaRPr kumimoji="0" lang="aa-ET" sz="12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7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342777" y="1183334"/>
            <a:ext cx="2040944" cy="439946"/>
          </a:xfrm>
          <a:prstGeom prst="roundRect">
            <a:avLst/>
          </a:prstGeom>
          <a:solidFill>
            <a:srgbClr val="00FF00"/>
          </a:solidFill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Response body</a:t>
            </a:r>
            <a:endParaRPr kumimoji="0" lang="aa-ET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834483" y="1998030"/>
            <a:ext cx="11143891" cy="4803775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 returned by the provider</a:t>
            </a:r>
          </a:p>
          <a:p>
            <a:pPr>
              <a:buFont typeface="Courier New" panose="02070309020205020404" pitchFamily="49" charset="0"/>
              <a:buChar char="_"/>
            </a:pPr>
            <a:endParaRPr lang="nl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REST does not prescribe a specific data format</a:t>
            </a:r>
          </a:p>
          <a:p>
            <a:pPr>
              <a:buFont typeface="Courier New" panose="02070309020205020404" pitchFamily="49" charset="0"/>
              <a:buChar char="_"/>
            </a:pPr>
            <a:endParaRPr lang="nl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Most common:</a:t>
            </a:r>
          </a:p>
          <a:p>
            <a:pPr lvl="1"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JSON</a:t>
            </a:r>
          </a:p>
          <a:p>
            <a:pPr lvl="1"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XML</a:t>
            </a:r>
          </a:p>
          <a:p>
            <a:pPr lvl="1"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Plain text</a:t>
            </a:r>
          </a:p>
          <a:p>
            <a:pPr>
              <a:buFont typeface="Courier New" panose="02070309020205020404" pitchFamily="49" charset="0"/>
              <a:buChar char="_"/>
            </a:pPr>
            <a:endParaRPr lang="nl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Other data formats can be sent using REST, too</a:t>
            </a:r>
            <a:endParaRPr lang="nl-NL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1182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/>
          <a:lstStyle/>
          <a:p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API specification / documentation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1109385" cy="4351338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SOAP: WSDL (Web Services Description Language)</a:t>
            </a:r>
          </a:p>
          <a:p>
            <a:pPr>
              <a:buFont typeface="Courier New" panose="02070309020205020404" pitchFamily="49" charset="0"/>
              <a:buChar char="_"/>
            </a:pPr>
            <a:endParaRPr lang="nl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REST: OpenAPI / Swagger</a:t>
            </a:r>
          </a:p>
          <a:p>
            <a:pPr>
              <a:buFont typeface="Courier New" panose="02070309020205020404" pitchFamily="49" charset="0"/>
              <a:buChar char="_"/>
            </a:pPr>
            <a:endParaRPr lang="nl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REST: RAML (RESTful API Modelling Language)</a:t>
            </a:r>
          </a:p>
          <a:p>
            <a:pPr>
              <a:buFont typeface="Courier New" panose="02070309020205020404" pitchFamily="49" charset="0"/>
              <a:buChar char="_"/>
            </a:pPr>
            <a:endParaRPr lang="nl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Courier New" panose="02070309020205020404" pitchFamily="49" charset="0"/>
              <a:buChar char="_"/>
            </a:pPr>
            <a:r>
              <a:rPr lang="nl-NL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REST: WADL (Web Application Description Language)</a:t>
            </a:r>
          </a:p>
          <a:p>
            <a:pPr marL="0" indent="0">
              <a:buNone/>
            </a:pPr>
            <a:endParaRPr lang="nl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Courier New" panose="02070309020205020404" pitchFamily="49" charset="0"/>
              <a:buChar char="_"/>
            </a:pPr>
            <a:endParaRPr lang="nl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Courier New" panose="02070309020205020404" pitchFamily="49" charset="0"/>
              <a:buChar char="_"/>
            </a:pPr>
            <a:endParaRPr lang="nl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Oval 4">
            <a:extLst>
              <a:ext uri="{FF2B5EF4-FFF2-40B4-BE49-F238E27FC236}">
                <a16:creationId xmlns:a16="http://schemas.microsoft.com/office/drawing/2014/main" id="{02327C9F-92B9-4D1C-84A3-E641F131E8F4}"/>
              </a:ext>
            </a:extLst>
          </p:cNvPr>
          <p:cNvSpPr/>
          <p:nvPr/>
        </p:nvSpPr>
        <p:spPr>
          <a:xfrm flipV="1">
            <a:off x="478031" y="2700167"/>
            <a:ext cx="6017659" cy="810786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702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02919-6A7F-4DD9-A93C-8B30D365838D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Tools for testing RESTful APIs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4058DE-2A74-467D-A883-872913DD28A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6"/>
            <a:ext cx="11058522" cy="5032373"/>
          </a:xfrm>
        </p:spPr>
        <p:txBody>
          <a:bodyPr>
            <a:normAutofit lnSpcReduction="10000"/>
          </a:bodyPr>
          <a:lstStyle/>
          <a:p>
            <a:pPr lvl="0">
              <a:buFont typeface="Courier New" pitchFamily="49"/>
              <a:buChar char="_"/>
            </a:pPr>
            <a:r>
              <a:rPr lang="nl-NL" dirty="0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Free / open source</a:t>
            </a:r>
          </a:p>
          <a:p>
            <a:pPr lvl="1">
              <a:buFont typeface="Courier New" pitchFamily="49"/>
              <a:buChar char="_"/>
            </a:pPr>
            <a:r>
              <a:rPr lang="nl-NL" dirty="0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Postman</a:t>
            </a:r>
          </a:p>
          <a:p>
            <a:pPr lvl="1">
              <a:buFont typeface="Courier New" pitchFamily="49"/>
              <a:buChar char="_"/>
            </a:pPr>
            <a:r>
              <a:rPr lang="nl-NL" dirty="0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SoapUI</a:t>
            </a:r>
          </a:p>
          <a:p>
            <a:pPr lvl="1">
              <a:buFont typeface="Courier New" pitchFamily="49"/>
              <a:buChar char="_"/>
            </a:pPr>
            <a:r>
              <a:rPr lang="nl-NL" dirty="0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Code libraries (REST Assured, RestAssured.Net, RestSharp, requests, …)</a:t>
            </a:r>
          </a:p>
          <a:p>
            <a:pPr lvl="1">
              <a:buFont typeface="Courier New" pitchFamily="49"/>
              <a:buChar char="_"/>
            </a:pPr>
            <a:endParaRPr lang="nl-NL" dirty="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r>
              <a:rPr lang="nl-NL" dirty="0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Commercial</a:t>
            </a:r>
          </a:p>
          <a:p>
            <a:pPr lvl="1">
              <a:buFont typeface="Courier New" pitchFamily="49"/>
              <a:buChar char="_"/>
            </a:pPr>
            <a:r>
              <a:rPr lang="nl-NL" dirty="0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Parasoft SOAtest</a:t>
            </a:r>
          </a:p>
          <a:p>
            <a:pPr lvl="1">
              <a:buFont typeface="Courier New" pitchFamily="49"/>
              <a:buChar char="_"/>
            </a:pPr>
            <a:r>
              <a:rPr lang="nl-NL" dirty="0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SmartBear ReadyAPI</a:t>
            </a:r>
          </a:p>
          <a:p>
            <a:pPr lvl="1">
              <a:buFont typeface="Courier New" pitchFamily="49"/>
              <a:buChar char="_"/>
            </a:pPr>
            <a:r>
              <a:rPr lang="nl-NL" dirty="0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…</a:t>
            </a:r>
          </a:p>
          <a:p>
            <a:pPr lvl="0">
              <a:buFont typeface="Courier New" pitchFamily="49"/>
              <a:buChar char="_"/>
            </a:pPr>
            <a:endParaRPr lang="nl-NL" dirty="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r>
              <a:rPr lang="nl-NL" dirty="0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Build your own (using HTTP libraries for your language of choice)</a:t>
            </a:r>
          </a:p>
          <a:p>
            <a:pPr lvl="0">
              <a:buFont typeface="Courier New" pitchFamily="49"/>
              <a:buChar char="_"/>
            </a:pPr>
            <a:endParaRPr lang="nl-NL" dirty="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endParaRPr lang="nl-NL" dirty="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635F6-3736-4745-ACB1-9E362ABEE38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RestAssured.Net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34495-3B4F-44AD-978E-CBCDD299C922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>
              <a:lnSpc>
                <a:spcPct val="80000"/>
              </a:lnSpc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C# DSL for writing tests for RESTful APIs</a:t>
            </a:r>
          </a:p>
          <a:p>
            <a:pPr lvl="0">
              <a:lnSpc>
                <a:spcPct val="80000"/>
              </a:lnSpc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lnSpc>
                <a:spcPct val="80000"/>
              </a:lnSpc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Port of REST Assured (Java)</a:t>
            </a:r>
          </a:p>
          <a:p>
            <a:pPr lvl="0">
              <a:lnSpc>
                <a:spcPct val="80000"/>
              </a:lnSpc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lnSpc>
                <a:spcPct val="80000"/>
              </a:lnSpc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Removes a lot of boilerplate code</a:t>
            </a:r>
          </a:p>
          <a:p>
            <a:pPr lvl="0">
              <a:lnSpc>
                <a:spcPct val="80000"/>
              </a:lnSpc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lnSpc>
                <a:spcPct val="80000"/>
              </a:lnSpc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Runs on top of common unit testing frameworks</a:t>
            </a:r>
          </a:p>
          <a:p>
            <a:pPr lvl="1">
              <a:lnSpc>
                <a:spcPct val="80000"/>
              </a:lnSpc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NUnit, xUnit, MSTest</a:t>
            </a:r>
          </a:p>
          <a:p>
            <a:pPr lvl="1">
              <a:lnSpc>
                <a:spcPct val="80000"/>
              </a:lnSpc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lnSpc>
                <a:spcPct val="80000"/>
              </a:lnSpc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Developed and maintained by Bas Dijkstra</a:t>
            </a:r>
          </a:p>
          <a:p>
            <a:pPr lvl="0">
              <a:lnSpc>
                <a:spcPct val="80000"/>
              </a:lnSpc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lnSpc>
                <a:spcPct val="80000"/>
              </a:lnSpc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lnSpc>
                <a:spcPct val="80000"/>
              </a:lnSpc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AC865-C019-4B8B-9CF4-52F4E1ED05D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Adding RestAssured.Net to your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11547-6D8A-4745-9CEE-335CA0E4DD0F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Available as a NuGet package</a:t>
            </a: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1C852C-5A81-585D-CA0D-C071C49CAE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747" y="3282366"/>
            <a:ext cx="10446505" cy="25585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09D1B-835F-4058-AFBF-5144A21F0CCB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RestAssured.Net documentation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C94EC-186F-4384-850D-F471F7FD3E7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1057628" cy="4351336"/>
          </a:xfrm>
        </p:spPr>
        <p:txBody>
          <a:bodyPr/>
          <a:lstStyle/>
          <a:p>
            <a:pPr lvl="0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Usage Guide</a:t>
            </a:r>
          </a:p>
          <a:p>
            <a:pPr marL="0" indent="0">
              <a:buNone/>
            </a:pPr>
            <a:r>
              <a:rPr lang="nl-NL" sz="2000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https://github.com/basdijkstra/rest-assured-net/wiki/Usage-Guide</a:t>
            </a:r>
          </a:p>
          <a:p>
            <a:pPr marL="0" indent="0">
              <a:buNone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marL="0" indent="0">
              <a:buNone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_Examples</a:t>
            </a:r>
          </a:p>
          <a:p>
            <a:pPr marL="0" lvl="0" indent="0">
              <a:buNone/>
            </a:pPr>
            <a:r>
              <a:rPr lang="nl-NL" sz="1800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https://github.com/basdijkstra/rest-assured-net/tree/main/RestAssured.Net.Tests</a:t>
            </a: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marL="0" lvl="0" indent="0">
              <a:buNone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(these double as acceptance tests for the project)</a:t>
            </a: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fbeelding 3">
            <a:extLst>
              <a:ext uri="{FF2B5EF4-FFF2-40B4-BE49-F238E27FC236}">
                <a16:creationId xmlns:a16="http://schemas.microsoft.com/office/drawing/2014/main" id="{3CD4028E-E5E8-78DE-F874-6AAD418525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760" y="2125623"/>
            <a:ext cx="10952480" cy="43474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8BEE47-423D-41F0-8A63-DF78894C7FE5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A sample test</a:t>
            </a:r>
          </a:p>
        </p:txBody>
      </p:sp>
      <p:sp>
        <p:nvSpPr>
          <p:cNvPr id="7" name="Ovaal 6">
            <a:extLst>
              <a:ext uri="{FF2B5EF4-FFF2-40B4-BE49-F238E27FC236}">
                <a16:creationId xmlns:a16="http://schemas.microsoft.com/office/drawing/2014/main" id="{1C92A408-C149-4757-AB8A-230366CF0B5E}"/>
              </a:ext>
            </a:extLst>
          </p:cNvPr>
          <p:cNvSpPr/>
          <p:nvPr/>
        </p:nvSpPr>
        <p:spPr>
          <a:xfrm>
            <a:off x="571500" y="2131284"/>
            <a:ext cx="1348740" cy="488948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E0556E04-95A6-4CE2-9DED-171ACD93EB31}"/>
              </a:ext>
            </a:extLst>
          </p:cNvPr>
          <p:cNvSpPr txBox="1"/>
          <p:nvPr/>
        </p:nvSpPr>
        <p:spPr>
          <a:xfrm>
            <a:off x="571500" y="1756291"/>
            <a:ext cx="9182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RestAssured.Net uses NUnit (this could also be xUnit or MSTest)</a:t>
            </a:r>
            <a:endParaRPr lang="en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Ovaal 11">
            <a:extLst>
              <a:ext uri="{FF2B5EF4-FFF2-40B4-BE49-F238E27FC236}">
                <a16:creationId xmlns:a16="http://schemas.microsoft.com/office/drawing/2014/main" id="{B9962167-AA09-4864-80CD-195FFFB132B8}"/>
              </a:ext>
            </a:extLst>
          </p:cNvPr>
          <p:cNvSpPr/>
          <p:nvPr/>
        </p:nvSpPr>
        <p:spPr>
          <a:xfrm>
            <a:off x="1690367" y="4382467"/>
            <a:ext cx="9663436" cy="488948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CE10F718-AC71-496F-B9CC-3C68EF5C6438}"/>
              </a:ext>
            </a:extLst>
          </p:cNvPr>
          <p:cNvSpPr txBox="1"/>
          <p:nvPr/>
        </p:nvSpPr>
        <p:spPr>
          <a:xfrm>
            <a:off x="3716970" y="3859404"/>
            <a:ext cx="8624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Make an HTTP GET call to retrieve data from the provider</a:t>
            </a:r>
            <a:endParaRPr lang="en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" name="Ovaal 17">
            <a:extLst>
              <a:ext uri="{FF2B5EF4-FFF2-40B4-BE49-F238E27FC236}">
                <a16:creationId xmlns:a16="http://schemas.microsoft.com/office/drawing/2014/main" id="{8237CB3E-30B0-4313-AA62-CC5154DE158D}"/>
              </a:ext>
            </a:extLst>
          </p:cNvPr>
          <p:cNvSpPr/>
          <p:nvPr/>
        </p:nvSpPr>
        <p:spPr>
          <a:xfrm>
            <a:off x="1781807" y="5495342"/>
            <a:ext cx="10024113" cy="563905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0" name="Tekstvak 19">
            <a:extLst>
              <a:ext uri="{FF2B5EF4-FFF2-40B4-BE49-F238E27FC236}">
                <a16:creationId xmlns:a16="http://schemas.microsoft.com/office/drawing/2014/main" id="{89B420FA-11F0-4755-8FDD-E9341DB7CCBB}"/>
              </a:ext>
            </a:extLst>
          </p:cNvPr>
          <p:cNvSpPr txBox="1"/>
          <p:nvPr/>
        </p:nvSpPr>
        <p:spPr>
          <a:xfrm>
            <a:off x="714376" y="6063717"/>
            <a:ext cx="11477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Perform an assertion on the returned response (here: on the JSON response payload)</a:t>
            </a:r>
            <a:endParaRPr lang="en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12" grpId="0" animBg="1"/>
      <p:bldP spid="14" grpId="0"/>
      <p:bldP spid="18" grpId="0" animBg="1"/>
      <p:bldP spid="2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71CDE-5987-4E5A-AC1D-F63225870437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RestAssured.Net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DC297-61D2-4403-ACF1-F58601E90B1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2" y="1825627"/>
            <a:ext cx="11128641" cy="4351336"/>
          </a:xfrm>
        </p:spPr>
        <p:txBody>
          <a:bodyPr/>
          <a:lstStyle/>
          <a:p>
            <a:pPr lvl="0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Support for all HTTP methods (GET, POST, PUT, …)</a:t>
            </a:r>
          </a:p>
          <a:p>
            <a:pPr lvl="0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Support for Gherkin (Given/When/Then)</a:t>
            </a:r>
          </a:p>
          <a:p>
            <a:pPr lvl="0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Use of NHamcrest matchers for checks (</a:t>
            </a:r>
            <a:r>
              <a:rPr lang="nl-NL" i="1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Is.EqualTo</a:t>
            </a: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)</a:t>
            </a:r>
          </a:p>
          <a:p>
            <a:pPr lvl="0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Use of JsonPath to select elements from a JSON response</a:t>
            </a: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BD865BD2-0C75-15DF-DE2D-037F5D77F8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1524" y="3952241"/>
            <a:ext cx="7320476" cy="29057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AF438-954B-4D9F-BBE5-38162977A287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About NHamcrest matchers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51BA79-A0C1-4DC6-888B-BB04CED9FBF1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Express expectations in natural language</a:t>
            </a: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Examples:</a:t>
            </a:r>
          </a:p>
          <a:p>
            <a:pPr marL="0" lvl="0" indent="0">
              <a:buNone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5A8CBFE6-3F01-4CEB-983B-9AE5FDA8EB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1618616"/>
              </p:ext>
            </p:extLst>
          </p:nvPr>
        </p:nvGraphicFramePr>
        <p:xfrm>
          <a:off x="1178560" y="3555455"/>
          <a:ext cx="10515599" cy="1483376"/>
        </p:xfrm>
        <a:graphic>
          <a:graphicData uri="http://schemas.openxmlformats.org/drawingml/2006/table">
            <a:tbl>
              <a:tblPr firstRow="1" bandRow="1">
                <a:effectLst/>
                <a:tableStyleId>{2D5ABB26-0587-4C30-8999-92F81FD0307C}</a:tableStyleId>
              </a:tblPr>
              <a:tblGrid>
                <a:gridCol w="3836989">
                  <a:extLst>
                    <a:ext uri="{9D8B030D-6E8A-4147-A177-3AD203B41FA5}">
                      <a16:colId xmlns:a16="http://schemas.microsoft.com/office/drawing/2014/main" val="1438541578"/>
                    </a:ext>
                  </a:extLst>
                </a:gridCol>
                <a:gridCol w="6678610">
                  <a:extLst>
                    <a:ext uri="{9D8B030D-6E8A-4147-A177-3AD203B41FA5}">
                      <a16:colId xmlns:a16="http://schemas.microsoft.com/office/drawing/2014/main" val="694824538"/>
                    </a:ext>
                  </a:extLst>
                </a:gridCol>
              </a:tblGrid>
              <a:tr h="370844">
                <a:tc>
                  <a:txBody>
                    <a:bodyPr/>
                    <a:lstStyle/>
                    <a:p>
                      <a:pPr lvl="0"/>
                      <a:r>
                        <a:rPr lang="nl-NL">
                          <a:solidFill>
                            <a:srgbClr val="00FF00"/>
                          </a:solidFill>
                          <a:latin typeface="Courier New" pitchFamily="49"/>
                          <a:cs typeface="Courier New" pitchFamily="49"/>
                        </a:rPr>
                        <a:t>Is.EqualTo(X)</a:t>
                      </a:r>
                    </a:p>
                  </a:txBody>
                  <a:tcPr>
                    <a:lnL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nl-NL">
                          <a:solidFill>
                            <a:srgbClr val="00FF00"/>
                          </a:solidFill>
                          <a:latin typeface="Courier New" pitchFamily="49"/>
                          <a:cs typeface="Courier New" pitchFamily="49"/>
                        </a:rPr>
                        <a:t>Does the object equal X?</a:t>
                      </a:r>
                    </a:p>
                  </a:txBody>
                  <a:tcPr>
                    <a:lnL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8079445"/>
                  </a:ext>
                </a:extLst>
              </a:tr>
              <a:tr h="370844">
                <a:tc>
                  <a:txBody>
                    <a:bodyPr/>
                    <a:lstStyle/>
                    <a:p>
                      <a:pPr lvl="0"/>
                      <a:r>
                        <a:rPr lang="nl-NL">
                          <a:solidFill>
                            <a:srgbClr val="00FF00"/>
                          </a:solidFill>
                          <a:latin typeface="Courier New" pitchFamily="49"/>
                          <a:cs typeface="Courier New" pitchFamily="49"/>
                        </a:rPr>
                        <a:t>Has.Item(Is.EqualTo(X))</a:t>
                      </a:r>
                    </a:p>
                  </a:txBody>
                  <a:tcPr>
                    <a:lnL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nl-NL">
                          <a:solidFill>
                            <a:srgbClr val="00FF00"/>
                          </a:solidFill>
                          <a:latin typeface="Courier New" pitchFamily="49"/>
                          <a:cs typeface="Courier New" pitchFamily="49"/>
                        </a:rPr>
                        <a:t>Does the collection contain</a:t>
                      </a:r>
                      <a:r>
                        <a:rPr lang="nl-NL" baseline="0">
                          <a:solidFill>
                            <a:srgbClr val="00FF00"/>
                          </a:solidFill>
                          <a:latin typeface="Courier New" pitchFamily="49"/>
                          <a:cs typeface="Courier New" pitchFamily="49"/>
                        </a:rPr>
                        <a:t> an item equal to X?</a:t>
                      </a:r>
                      <a:endParaRPr lang="nl-NL">
                        <a:solidFill>
                          <a:srgbClr val="00FF00"/>
                        </a:solidFill>
                        <a:latin typeface="Courier New" pitchFamily="49"/>
                        <a:cs typeface="Courier New" pitchFamily="49"/>
                      </a:endParaRPr>
                    </a:p>
                  </a:txBody>
                  <a:tcPr>
                    <a:lnL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4843198"/>
                  </a:ext>
                </a:extLst>
              </a:tr>
              <a:tr h="370844">
                <a:tc>
                  <a:txBody>
                    <a:bodyPr/>
                    <a:lstStyle/>
                    <a:p>
                      <a:pPr lvl="0"/>
                      <a:endParaRPr lang="nl-NL">
                        <a:solidFill>
                          <a:srgbClr val="00FF00"/>
                        </a:solidFill>
                        <a:latin typeface="Courier New" pitchFamily="49"/>
                        <a:cs typeface="Courier New" pitchFamily="49"/>
                      </a:endParaRPr>
                    </a:p>
                  </a:txBody>
                  <a:tcPr>
                    <a:lnL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nl-NL">
                        <a:solidFill>
                          <a:srgbClr val="00FF00"/>
                        </a:solidFill>
                        <a:latin typeface="Courier New" pitchFamily="49"/>
                        <a:cs typeface="Courier New" pitchFamily="49"/>
                      </a:endParaRPr>
                    </a:p>
                  </a:txBody>
                  <a:tcPr>
                    <a:lnL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0814064"/>
                  </a:ext>
                </a:extLst>
              </a:tr>
              <a:tr h="370844">
                <a:tc>
                  <a:txBody>
                    <a:bodyPr/>
                    <a:lstStyle/>
                    <a:p>
                      <a:pPr lvl="0"/>
                      <a:endParaRPr lang="nl-NL">
                        <a:solidFill>
                          <a:srgbClr val="00FF00"/>
                        </a:solidFill>
                        <a:latin typeface="Courier New" pitchFamily="49"/>
                        <a:cs typeface="Courier New" pitchFamily="49"/>
                      </a:endParaRPr>
                    </a:p>
                  </a:txBody>
                  <a:tcPr>
                    <a:lnL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nl-NL">
                        <a:solidFill>
                          <a:srgbClr val="00FF00"/>
                        </a:solidFill>
                        <a:latin typeface="Courier New" pitchFamily="49"/>
                        <a:cs typeface="Courier New" pitchFamily="49"/>
                      </a:endParaRPr>
                    </a:p>
                  </a:txBody>
                  <a:tcPr>
                    <a:lnL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493979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66F27-71AF-4B35-9BF5-7AA88B0D0CD9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About JsonPath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9B38E-D763-4A93-AC22-A8F9C5ACEFF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1048996" cy="4351336"/>
          </a:xfrm>
        </p:spPr>
        <p:txBody>
          <a:bodyPr>
            <a:normAutofit lnSpcReduction="10000"/>
          </a:bodyPr>
          <a:lstStyle/>
          <a:p>
            <a:pPr lvl="0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JsonPath is a query language for JSON documents</a:t>
            </a: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Similar aims and scope as XPath for XML</a:t>
            </a: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Documentation and examples:</a:t>
            </a:r>
          </a:p>
          <a:p>
            <a:pPr lvl="1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https://support.smartbear.com/alertsite/docs/monitors</a:t>
            </a:r>
          </a:p>
          <a:p>
            <a:pPr marL="457200" lvl="1" indent="0">
              <a:buNone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 /api/endpoint/jsonpath.html</a:t>
            </a:r>
          </a:p>
          <a:p>
            <a:pPr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All required JsonPath expressions are given in the exercise descriptions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Afbeelding 9">
            <a:extLst>
              <a:ext uri="{FF2B5EF4-FFF2-40B4-BE49-F238E27FC236}">
                <a16:creationId xmlns:a16="http://schemas.microsoft.com/office/drawing/2014/main" id="{8E14AAA6-5CE9-4955-90F8-BE2CFB37AA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5861" y="3545841"/>
            <a:ext cx="6896139" cy="33121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813023-2B09-4435-868D-5E30620DBC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2" y="365129"/>
            <a:ext cx="11150597" cy="782951"/>
          </a:xfrm>
        </p:spPr>
        <p:txBody>
          <a:bodyPr/>
          <a:lstStyle/>
          <a:p>
            <a:pPr lvl="0"/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Checking technical response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1B50F-65BD-46CC-8483-7815AA84147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2" y="1360394"/>
            <a:ext cx="10515600" cy="4822060"/>
          </a:xfrm>
        </p:spPr>
        <p:txBody>
          <a:bodyPr>
            <a:normAutofit lnSpcReduction="10000"/>
          </a:bodyPr>
          <a:lstStyle/>
          <a:p>
            <a:pPr lvl="0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HTTP status code</a:t>
            </a:r>
          </a:p>
          <a:p>
            <a:pPr lvl="0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Response Content-Type header</a:t>
            </a:r>
          </a:p>
          <a:p>
            <a:pPr lvl="0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Other headers and their value</a:t>
            </a:r>
          </a:p>
          <a:p>
            <a:pPr lvl="0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Cookies and their value</a:t>
            </a:r>
          </a:p>
          <a:p>
            <a:pPr lvl="0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…</a:t>
            </a: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Most methods accept</a:t>
            </a:r>
          </a:p>
          <a:p>
            <a:pPr marL="0" lvl="0" indent="0">
              <a:buNone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 both fixed values</a:t>
            </a:r>
          </a:p>
          <a:p>
            <a:pPr marL="0" lvl="0" indent="0">
              <a:buNone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 and NHamcrest</a:t>
            </a:r>
          </a:p>
          <a:p>
            <a:pPr marL="0" lvl="0" indent="0">
              <a:buNone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 matchers</a:t>
            </a:r>
          </a:p>
        </p:txBody>
      </p:sp>
      <p:sp>
        <p:nvSpPr>
          <p:cNvPr id="7" name="Ovaal 6">
            <a:extLst>
              <a:ext uri="{FF2B5EF4-FFF2-40B4-BE49-F238E27FC236}">
                <a16:creationId xmlns:a16="http://schemas.microsoft.com/office/drawing/2014/main" id="{5548B4A5-8BB9-4D19-9D58-928440009CBD}"/>
              </a:ext>
            </a:extLst>
          </p:cNvPr>
          <p:cNvSpPr/>
          <p:nvPr/>
        </p:nvSpPr>
        <p:spPr>
          <a:xfrm>
            <a:off x="6096000" y="5794946"/>
            <a:ext cx="2363471" cy="314960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8" name="Ovaal 7">
            <a:extLst>
              <a:ext uri="{FF2B5EF4-FFF2-40B4-BE49-F238E27FC236}">
                <a16:creationId xmlns:a16="http://schemas.microsoft.com/office/drawing/2014/main" id="{7651BAE6-66B1-4C49-B9F6-C78F77AF31D8}"/>
              </a:ext>
            </a:extLst>
          </p:cNvPr>
          <p:cNvSpPr/>
          <p:nvPr/>
        </p:nvSpPr>
        <p:spPr>
          <a:xfrm>
            <a:off x="6136639" y="6202775"/>
            <a:ext cx="5811520" cy="494058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258757A-8593-F22B-8094-658357AF08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19" y="1062302"/>
            <a:ext cx="7443499" cy="47333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E848D8-2FD7-48B7-9E11-4A3E2A92FF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6720" y="0"/>
            <a:ext cx="10088880" cy="1325559"/>
          </a:xfrm>
        </p:spPr>
        <p:txBody>
          <a:bodyPr/>
          <a:lstStyle/>
          <a:p>
            <a:pPr lvl="0"/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Logging request data</a:t>
            </a:r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B283D671-0933-4845-A72D-CC06CA759F5D}"/>
              </a:ext>
            </a:extLst>
          </p:cNvPr>
          <p:cNvSpPr txBox="1"/>
          <p:nvPr/>
        </p:nvSpPr>
        <p:spPr>
          <a:xfrm>
            <a:off x="426720" y="5795698"/>
            <a:ext cx="91287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You can also use </a:t>
            </a:r>
            <a:r>
              <a:rPr lang="en-US" sz="2400" i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RequestLogLevel.Body</a:t>
            </a:r>
            <a:r>
              <a:rPr lang="en-US" sz="24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400" i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RequestLogLevel.Headers</a:t>
            </a:r>
            <a:r>
              <a:rPr lang="en-US" sz="24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as well as other options</a:t>
            </a:r>
            <a:endParaRPr lang="en-NL" sz="2400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Ovaal 9">
            <a:extLst>
              <a:ext uri="{FF2B5EF4-FFF2-40B4-BE49-F238E27FC236}">
                <a16:creationId xmlns:a16="http://schemas.microsoft.com/office/drawing/2014/main" id="{48A875AC-C00D-4F23-A106-47C9997CBA35}"/>
              </a:ext>
            </a:extLst>
          </p:cNvPr>
          <p:cNvSpPr/>
          <p:nvPr/>
        </p:nvSpPr>
        <p:spPr>
          <a:xfrm>
            <a:off x="733803" y="2038039"/>
            <a:ext cx="5595078" cy="1475723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6" name="Ovaal 9">
            <a:extLst>
              <a:ext uri="{FF2B5EF4-FFF2-40B4-BE49-F238E27FC236}">
                <a16:creationId xmlns:a16="http://schemas.microsoft.com/office/drawing/2014/main" id="{78E5D441-8ADF-F545-22E0-1D765CC5723F}"/>
              </a:ext>
            </a:extLst>
          </p:cNvPr>
          <p:cNvSpPr/>
          <p:nvPr/>
        </p:nvSpPr>
        <p:spPr>
          <a:xfrm>
            <a:off x="1272903" y="3883632"/>
            <a:ext cx="3062791" cy="404584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1261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  <p:bldP spid="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AC94B9-AB0C-9C90-B052-5DBB06032D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19" y="1062302"/>
            <a:ext cx="7443499" cy="47333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E848D8-2FD7-48B7-9E11-4A3E2A92FF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6720" y="0"/>
            <a:ext cx="10088880" cy="1325559"/>
          </a:xfrm>
        </p:spPr>
        <p:txBody>
          <a:bodyPr/>
          <a:lstStyle/>
          <a:p>
            <a:pPr lvl="0"/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Logging request data</a:t>
            </a:r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D91DA317-858F-ECF4-B538-7C1F839725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4386" y="3598898"/>
            <a:ext cx="8089757" cy="2944141"/>
          </a:xfrm>
          <a:prstGeom prst="rect">
            <a:avLst/>
          </a:prstGeom>
          <a:ln>
            <a:solidFill>
              <a:srgbClr val="00FF00"/>
            </a:solidFill>
          </a:ln>
        </p:spPr>
      </p:pic>
    </p:spTree>
    <p:extLst>
      <p:ext uri="{BB962C8B-B14F-4D97-AF65-F5344CB8AC3E}">
        <p14:creationId xmlns:p14="http://schemas.microsoft.com/office/powerpoint/2010/main" val="247321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038BD3-1847-9F74-AF84-4EA1933976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19" y="1062302"/>
            <a:ext cx="7443499" cy="47333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E848D8-2FD7-48B7-9E11-4A3E2A92FF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6720" y="206829"/>
            <a:ext cx="8849360" cy="839652"/>
          </a:xfrm>
        </p:spPr>
        <p:txBody>
          <a:bodyPr/>
          <a:lstStyle/>
          <a:p>
            <a:pPr lvl="0"/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Logging response data</a:t>
            </a:r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1AF16B06-E37F-8F3B-A49C-141D27308D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3969" y="1229360"/>
            <a:ext cx="6848031" cy="5628640"/>
          </a:xfrm>
          <a:prstGeom prst="rect">
            <a:avLst/>
          </a:prstGeom>
          <a:ln>
            <a:solidFill>
              <a:srgbClr val="00FF00"/>
            </a:solidFill>
          </a:ln>
        </p:spPr>
      </p:pic>
    </p:spTree>
    <p:extLst>
      <p:ext uri="{BB962C8B-B14F-4D97-AF65-F5344CB8AC3E}">
        <p14:creationId xmlns:p14="http://schemas.microsoft.com/office/powerpoint/2010/main" val="3322092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82EA5-048D-4FF3-9E42-663F12039CB2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Our API under test</a:t>
            </a:r>
            <a:endParaRPr lang="nl-NL" dirty="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6CBD5-322C-403E-8500-FB1821C2371C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(Simulation of) an online banking API</a:t>
            </a: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Customer data (GET, POST)</a:t>
            </a: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Account data (POST, GET)</a:t>
            </a:r>
          </a:p>
          <a:p>
            <a:pPr lvl="0">
              <a:buFont typeface="Courier New" pitchFamily="49"/>
              <a:buChar char="_"/>
            </a:pPr>
            <a:endParaRPr lang="nl-NL" dirty="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RESTful API</a:t>
            </a:r>
            <a:endParaRPr lang="nl-NL" dirty="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endParaRPr lang="nl-NL" dirty="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endParaRPr lang="nl-NL" dirty="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endParaRPr lang="nl-NL" dirty="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endParaRPr lang="nl-NL" dirty="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</p:txBody>
      </p:sp>
      <p:pic>
        <p:nvPicPr>
          <p:cNvPr id="1026" name="Picture 2" descr="Online Banking Best Practices for Consumers">
            <a:extLst>
              <a:ext uri="{FF2B5EF4-FFF2-40B4-BE49-F238E27FC236}">
                <a16:creationId xmlns:a16="http://schemas.microsoft.com/office/drawing/2014/main" id="{938378A0-C281-61D3-D811-593655A106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0064" y="3375025"/>
            <a:ext cx="5241936" cy="3482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89718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E992C-2C6A-4FE9-BDF2-940FD6C613F5}"/>
              </a:ext>
            </a:extLst>
          </p:cNvPr>
          <p:cNvSpPr txBox="1"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/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4FE7B-86F3-44D9-B02F-D5F7A42146C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2311081"/>
          </a:xfrm>
        </p:spPr>
        <p:txBody>
          <a:bodyPr/>
          <a:lstStyle/>
          <a:p>
            <a:pPr lvl="0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How to use the test suite</a:t>
            </a:r>
          </a:p>
          <a:p>
            <a:pPr lvl="0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Executing your tests</a:t>
            </a:r>
          </a:p>
          <a:p>
            <a:pPr lvl="0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Reviewing test results</a:t>
            </a:r>
          </a:p>
          <a:p>
            <a:pPr lvl="0">
              <a:lnSpc>
                <a:spcPct val="80000"/>
              </a:lnSpc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lnSpc>
                <a:spcPct val="80000"/>
              </a:lnSpc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lnSpc>
                <a:spcPct val="80000"/>
              </a:lnSpc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lnSpc>
                <a:spcPct val="80000"/>
              </a:lnSpc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lnSpc>
                <a:spcPct val="80000"/>
              </a:lnSpc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62EA1-E49C-41E5-9096-5370BBDC11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" y="1"/>
            <a:ext cx="10515600" cy="985520"/>
          </a:xfrm>
        </p:spPr>
        <p:txBody>
          <a:bodyPr/>
          <a:lstStyle/>
          <a:p>
            <a:pPr lvl="0"/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Now it’s your turn!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455EF-CD7A-4AB7-A52F-3E8CD80F761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21920" y="1219200"/>
            <a:ext cx="12003405" cy="5476240"/>
          </a:xfrm>
        </p:spPr>
        <p:txBody>
          <a:bodyPr>
            <a:normAutofit/>
          </a:bodyPr>
          <a:lstStyle/>
          <a:p>
            <a:pPr lvl="0">
              <a:lnSpc>
                <a:spcPct val="70000"/>
              </a:lnSpc>
              <a:buFont typeface="Courier New" pitchFamily="49"/>
              <a:buChar char="_"/>
            </a:pPr>
            <a:r>
              <a:rPr lang="nl-NL" sz="2600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Exercises &gt; Exercises01.cs</a:t>
            </a:r>
          </a:p>
          <a:p>
            <a:pPr lvl="0">
              <a:lnSpc>
                <a:spcPct val="70000"/>
              </a:lnSpc>
              <a:buFont typeface="Courier New" pitchFamily="49"/>
              <a:buChar char="_"/>
            </a:pPr>
            <a:endParaRPr lang="nl-NL" sz="260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lnSpc>
                <a:spcPct val="70000"/>
              </a:lnSpc>
              <a:buFont typeface="Courier New" pitchFamily="49"/>
              <a:buChar char="_"/>
            </a:pPr>
            <a:r>
              <a:rPr lang="nl-NL" sz="2600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Simple checks</a:t>
            </a:r>
          </a:p>
          <a:p>
            <a:pPr lvl="1">
              <a:lnSpc>
                <a:spcPct val="70000"/>
              </a:lnSpc>
              <a:buFont typeface="Courier New" pitchFamily="49"/>
              <a:buChar char="_"/>
            </a:pPr>
            <a:r>
              <a:rPr lang="nl-NL" sz="2200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Validating individual elements</a:t>
            </a:r>
          </a:p>
          <a:p>
            <a:pPr lvl="1">
              <a:lnSpc>
                <a:spcPct val="70000"/>
              </a:lnSpc>
              <a:buFont typeface="Courier New" pitchFamily="49"/>
              <a:buChar char="_"/>
            </a:pPr>
            <a:r>
              <a:rPr lang="nl-NL" sz="2200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Validating collections and items therein</a:t>
            </a:r>
          </a:p>
          <a:p>
            <a:pPr lvl="1">
              <a:lnSpc>
                <a:spcPct val="70000"/>
              </a:lnSpc>
              <a:buFont typeface="Courier New" pitchFamily="49"/>
              <a:buChar char="_"/>
            </a:pPr>
            <a:r>
              <a:rPr lang="nl-NL" sz="2200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Validating technical response properties</a:t>
            </a:r>
          </a:p>
          <a:p>
            <a:pPr lvl="0">
              <a:lnSpc>
                <a:spcPct val="70000"/>
              </a:lnSpc>
              <a:buFont typeface="Courier New" pitchFamily="49"/>
              <a:buChar char="_"/>
            </a:pPr>
            <a:endParaRPr lang="nl-NL" sz="260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lnSpc>
                <a:spcPct val="70000"/>
              </a:lnSpc>
              <a:buFont typeface="Courier New" pitchFamily="49"/>
              <a:buChar char="_"/>
            </a:pPr>
            <a:r>
              <a:rPr lang="nl-NL" sz="2600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Stubs are predefined</a:t>
            </a:r>
          </a:p>
          <a:p>
            <a:pPr lvl="1">
              <a:lnSpc>
                <a:spcPct val="70000"/>
              </a:lnSpc>
              <a:buFont typeface="Courier New" pitchFamily="49"/>
              <a:buChar char="_"/>
            </a:pPr>
            <a:r>
              <a:rPr lang="nl-NL" sz="2200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Don’t worry about the references to http://localhost</a:t>
            </a:r>
          </a:p>
          <a:p>
            <a:pPr lvl="1">
              <a:lnSpc>
                <a:spcPct val="70000"/>
              </a:lnSpc>
              <a:buFont typeface="Courier New" pitchFamily="49"/>
              <a:buChar char="_"/>
            </a:pPr>
            <a:r>
              <a:rPr lang="nl-NL" sz="2200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You only need to write the tests using RestAssured.Net</a:t>
            </a:r>
          </a:p>
          <a:p>
            <a:pPr>
              <a:lnSpc>
                <a:spcPct val="70000"/>
              </a:lnSpc>
              <a:buFont typeface="Courier New" pitchFamily="49"/>
              <a:buChar char="_"/>
            </a:pPr>
            <a:endParaRPr lang="nl-NL" sz="260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>
              <a:lnSpc>
                <a:spcPct val="70000"/>
              </a:lnSpc>
              <a:buFont typeface="Courier New" pitchFamily="49"/>
              <a:buChar char="_"/>
            </a:pPr>
            <a:r>
              <a:rPr lang="nl-NL" sz="2600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Answers are in Answers &gt; Answers01.cs</a:t>
            </a:r>
          </a:p>
          <a:p>
            <a:pPr lvl="0">
              <a:lnSpc>
                <a:spcPct val="70000"/>
              </a:lnSpc>
              <a:buFont typeface="Courier New" pitchFamily="49"/>
              <a:buChar char="_"/>
            </a:pPr>
            <a:endParaRPr lang="nl-NL" sz="260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lnSpc>
                <a:spcPct val="70000"/>
              </a:lnSpc>
              <a:buFont typeface="Courier New" pitchFamily="49"/>
              <a:buChar char="_"/>
            </a:pPr>
            <a:r>
              <a:rPr lang="nl-NL" sz="2600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Examples are in Examples &gt; Examples01.cs</a:t>
            </a:r>
          </a:p>
          <a:p>
            <a:pPr lvl="0">
              <a:lnSpc>
                <a:spcPct val="70000"/>
              </a:lnSpc>
              <a:buFont typeface="Courier New" pitchFamily="49"/>
              <a:buChar char="_"/>
            </a:pPr>
            <a:endParaRPr lang="nl-NL" sz="260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lnSpc>
                <a:spcPct val="70000"/>
              </a:lnSpc>
              <a:buFont typeface="Courier New" pitchFamily="49"/>
              <a:buChar char="_"/>
            </a:pPr>
            <a:endParaRPr lang="nl-NL" sz="260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lnSpc>
                <a:spcPct val="70000"/>
              </a:lnSpc>
              <a:buFont typeface="Courier New" pitchFamily="49"/>
              <a:buChar char="_"/>
            </a:pPr>
            <a:endParaRPr lang="nl-NL" sz="260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lnSpc>
                <a:spcPct val="70000"/>
              </a:lnSpc>
              <a:buFont typeface="Courier New" pitchFamily="49"/>
              <a:buChar char="_"/>
            </a:pPr>
            <a:endParaRPr lang="nl-NL" sz="260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lnSpc>
                <a:spcPct val="70000"/>
              </a:lnSpc>
              <a:buFont typeface="Courier New" pitchFamily="49"/>
              <a:buChar char="_"/>
            </a:pPr>
            <a:endParaRPr lang="nl-NL" sz="260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FECD3-1AF0-4DCE-BE96-047FA718179C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Parameters in RESTful web 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F0D27-91A1-4529-B8AC-39B103A2BD21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Path parameters</a:t>
            </a:r>
          </a:p>
          <a:p>
            <a:pPr lvl="1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http://api.zippopotam.us/</a:t>
            </a:r>
            <a:r>
              <a:rPr lang="nl-NL">
                <a:solidFill>
                  <a:srgbClr val="FF0000"/>
                </a:solidFill>
                <a:latin typeface="Courier New" pitchFamily="49"/>
                <a:cs typeface="Courier New" pitchFamily="49"/>
              </a:rPr>
              <a:t>us</a:t>
            </a: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/</a:t>
            </a:r>
            <a:r>
              <a:rPr lang="nl-NL">
                <a:solidFill>
                  <a:srgbClr val="FF0000"/>
                </a:solidFill>
                <a:latin typeface="Courier New" pitchFamily="49"/>
                <a:cs typeface="Courier New" pitchFamily="49"/>
              </a:rPr>
              <a:t>90210</a:t>
            </a:r>
          </a:p>
          <a:p>
            <a:pPr lvl="1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http://api.zippopotam.us/</a:t>
            </a:r>
            <a:r>
              <a:rPr lang="nl-NL">
                <a:solidFill>
                  <a:srgbClr val="FF0000"/>
                </a:solidFill>
                <a:latin typeface="Courier New" pitchFamily="49"/>
                <a:cs typeface="Courier New" pitchFamily="49"/>
              </a:rPr>
              <a:t>ca</a:t>
            </a: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/</a:t>
            </a:r>
            <a:r>
              <a:rPr lang="nl-NL">
                <a:solidFill>
                  <a:srgbClr val="FF0000"/>
                </a:solidFill>
                <a:latin typeface="Courier New" pitchFamily="49"/>
                <a:cs typeface="Courier New" pitchFamily="49"/>
              </a:rPr>
              <a:t>B2A</a:t>
            </a: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Query parameters</a:t>
            </a:r>
          </a:p>
          <a:p>
            <a:pPr lvl="1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http://md5.jsontest.com/?</a:t>
            </a:r>
            <a:r>
              <a:rPr lang="nl-NL">
                <a:solidFill>
                  <a:srgbClr val="FF0000"/>
                </a:solidFill>
                <a:latin typeface="Courier New" pitchFamily="49"/>
                <a:cs typeface="Courier New" pitchFamily="49"/>
              </a:rPr>
              <a:t>text</a:t>
            </a: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=</a:t>
            </a:r>
            <a:r>
              <a:rPr lang="nl-NL">
                <a:solidFill>
                  <a:srgbClr val="0070C0"/>
                </a:solidFill>
                <a:latin typeface="Courier New" pitchFamily="49"/>
                <a:cs typeface="Courier New" pitchFamily="49"/>
              </a:rPr>
              <a:t>testcaseOne</a:t>
            </a:r>
          </a:p>
          <a:p>
            <a:pPr lvl="1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http://md5.jsontest.com/?</a:t>
            </a:r>
            <a:r>
              <a:rPr lang="nl-NL">
                <a:solidFill>
                  <a:srgbClr val="FF0000"/>
                </a:solidFill>
                <a:latin typeface="Courier New" pitchFamily="49"/>
                <a:cs typeface="Courier New" pitchFamily="49"/>
              </a:rPr>
              <a:t>text</a:t>
            </a: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=</a:t>
            </a:r>
            <a:r>
              <a:rPr lang="nl-NL">
                <a:solidFill>
                  <a:srgbClr val="0070C0"/>
                </a:solidFill>
                <a:latin typeface="Courier New" pitchFamily="49"/>
                <a:cs typeface="Courier New" pitchFamily="49"/>
              </a:rPr>
              <a:t>testcaseTwo</a:t>
            </a: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There is no official standard!</a:t>
            </a: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Afbeelding 7">
            <a:extLst>
              <a:ext uri="{FF2B5EF4-FFF2-40B4-BE49-F238E27FC236}">
                <a16:creationId xmlns:a16="http://schemas.microsoft.com/office/drawing/2014/main" id="{ADA060C7-5790-2710-0E32-BD462C566D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3" y="2609848"/>
            <a:ext cx="10927202" cy="332359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293CE46-31FA-4988-86CC-A0B131C18A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997241" cy="1325559"/>
          </a:xfrm>
        </p:spPr>
        <p:txBody>
          <a:bodyPr/>
          <a:lstStyle/>
          <a:p>
            <a:pPr lvl="0"/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Using query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B71C3E-D32D-4240-B4A0-C208D31CDE7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1103860" cy="4351336"/>
          </a:xfrm>
        </p:spPr>
        <p:txBody>
          <a:bodyPr/>
          <a:lstStyle/>
          <a:p>
            <a:pPr lvl="0">
              <a:buFont typeface="Courier New" pitchFamily="49"/>
              <a:buChar char="_"/>
            </a:pPr>
            <a:r>
              <a:rPr lang="en-US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GET http://md5.jsontest.com/?</a:t>
            </a:r>
            <a:r>
              <a:rPr lang="en-US">
                <a:solidFill>
                  <a:srgbClr val="FF0000"/>
                </a:solidFill>
                <a:latin typeface="Courier New" pitchFamily="49"/>
                <a:cs typeface="Courier New" pitchFamily="49"/>
              </a:rPr>
              <a:t>text</a:t>
            </a:r>
            <a:r>
              <a:rPr lang="en-US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=</a:t>
            </a:r>
            <a:r>
              <a:rPr lang="en-US">
                <a:solidFill>
                  <a:srgbClr val="0070C0"/>
                </a:solidFill>
                <a:latin typeface="Courier New" pitchFamily="49"/>
                <a:cs typeface="Courier New" pitchFamily="49"/>
              </a:rPr>
              <a:t>testcase</a:t>
            </a:r>
          </a:p>
          <a:p>
            <a:pPr lvl="1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1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1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1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E29ECA-A79E-435D-924E-23D25040D231}"/>
              </a:ext>
            </a:extLst>
          </p:cNvPr>
          <p:cNvSpPr/>
          <p:nvPr/>
        </p:nvSpPr>
        <p:spPr>
          <a:xfrm flipV="1">
            <a:off x="1554480" y="4038280"/>
            <a:ext cx="5090160" cy="444117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61BEF237-CF8B-4530-A12D-4F3D306CE343}"/>
              </a:ext>
            </a:extLst>
          </p:cNvPr>
          <p:cNvSpPr txBox="1"/>
          <p:nvPr/>
        </p:nvSpPr>
        <p:spPr>
          <a:xfrm>
            <a:off x="4801801" y="3564492"/>
            <a:ext cx="5541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Define a query parameter and its value</a:t>
            </a:r>
            <a:endParaRPr lang="en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D4207C9C-DF53-8791-8E54-964B8BD0D8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134" y="2387638"/>
            <a:ext cx="11117731" cy="41052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5D164F3-ED47-4492-87D7-AAF28B005E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971364" cy="1325559"/>
          </a:xfrm>
        </p:spPr>
        <p:txBody>
          <a:bodyPr/>
          <a:lstStyle/>
          <a:p>
            <a:pPr lvl="0"/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Using path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A701BF-484E-448F-B78F-D01D9DABEC1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1230157" cy="4351336"/>
          </a:xfrm>
        </p:spPr>
        <p:txBody>
          <a:bodyPr/>
          <a:lstStyle/>
          <a:p>
            <a:pPr lvl="1">
              <a:buFont typeface="Courier New" pitchFamily="49"/>
              <a:buChar char="_"/>
            </a:pPr>
            <a:r>
              <a:rPr lang="nl-NL" sz="2400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GET </a:t>
            </a: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http://jsonplaceholder.typicode.com/users/</a:t>
            </a:r>
            <a:r>
              <a:rPr lang="nl-NL">
                <a:solidFill>
                  <a:srgbClr val="FF0000"/>
                </a:solidFill>
                <a:latin typeface="Courier New" pitchFamily="49"/>
                <a:cs typeface="Courier New" pitchFamily="49"/>
              </a:rPr>
              <a:t>1</a:t>
            </a:r>
          </a:p>
          <a:p>
            <a:pPr lvl="1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1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</p:txBody>
      </p:sp>
      <p:sp>
        <p:nvSpPr>
          <p:cNvPr id="7" name="Oval 4">
            <a:extLst>
              <a:ext uri="{FF2B5EF4-FFF2-40B4-BE49-F238E27FC236}">
                <a16:creationId xmlns:a16="http://schemas.microsoft.com/office/drawing/2014/main" id="{FDFC26A1-C392-4397-B5E4-5B3F41F8E7EB}"/>
              </a:ext>
            </a:extLst>
          </p:cNvPr>
          <p:cNvSpPr/>
          <p:nvPr/>
        </p:nvSpPr>
        <p:spPr>
          <a:xfrm flipV="1">
            <a:off x="1513841" y="4197874"/>
            <a:ext cx="4592319" cy="444117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A26A0EDA-D4C3-432A-A868-351C55F997C4}"/>
              </a:ext>
            </a:extLst>
          </p:cNvPr>
          <p:cNvSpPr txBox="1"/>
          <p:nvPr/>
        </p:nvSpPr>
        <p:spPr>
          <a:xfrm>
            <a:off x="2818735" y="3456209"/>
            <a:ext cx="55632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Define a (custom) path parameter name</a:t>
            </a:r>
          </a:p>
          <a:p>
            <a:r>
              <a:rPr lang="en-US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and the parameter value</a:t>
            </a:r>
            <a:endParaRPr lang="en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Oval 4">
            <a:extLst>
              <a:ext uri="{FF2B5EF4-FFF2-40B4-BE49-F238E27FC236}">
                <a16:creationId xmlns:a16="http://schemas.microsoft.com/office/drawing/2014/main" id="{8132C249-93F0-42CA-933B-172C327FECF8}"/>
              </a:ext>
            </a:extLst>
          </p:cNvPr>
          <p:cNvSpPr/>
          <p:nvPr/>
        </p:nvSpPr>
        <p:spPr>
          <a:xfrm flipV="1">
            <a:off x="9773920" y="4904526"/>
            <a:ext cx="1620517" cy="444117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59FCADA0-A6AD-481E-88B5-F9A768EE4DE9}"/>
              </a:ext>
            </a:extLst>
          </p:cNvPr>
          <p:cNvSpPr txBox="1"/>
          <p:nvPr/>
        </p:nvSpPr>
        <p:spPr>
          <a:xfrm>
            <a:off x="6323885" y="4170010"/>
            <a:ext cx="57839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Define the location of the path parameter using the chosen name between []</a:t>
            </a:r>
            <a:endParaRPr lang="en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 animBg="1"/>
      <p:bldP spid="10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6063107"/>
          </a:xfrm>
        </p:spPr>
        <p:txBody>
          <a:bodyPr>
            <a:normAutofit/>
          </a:bodyPr>
          <a:lstStyle/>
          <a:p>
            <a:pPr algn="ctr"/>
            <a:r>
              <a:rPr lang="nl-NL" sz="720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APIs are all about data</a:t>
            </a:r>
            <a:endParaRPr lang="nl-NL" sz="7200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42658" y="455256"/>
            <a:ext cx="97075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28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Exchange data between consumer and provider</a:t>
            </a:r>
            <a:endParaRPr kumimoji="0" lang="nl-NL" sz="2800" b="0" i="0" u="none" strike="noStrike" kern="1200" cap="none" spc="0" normalizeH="0" baseline="0" noProof="0" dirty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61348E-B393-4F88-87B7-0D94D07C05A6}"/>
              </a:ext>
            </a:extLst>
          </p:cNvPr>
          <p:cNvSpPr txBox="1"/>
          <p:nvPr/>
        </p:nvSpPr>
        <p:spPr>
          <a:xfrm>
            <a:off x="1688652" y="4711614"/>
            <a:ext cx="881469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28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Business logic and calculations often exposed through APIs</a:t>
            </a:r>
            <a:endParaRPr kumimoji="0" lang="nl-NL" sz="2800" b="0" i="0" u="none" strike="noStrike" kern="1200" cap="none" spc="0" normalizeH="0" baseline="0" noProof="0" dirty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249514-5CC5-485D-9571-9AA8B7934841}"/>
              </a:ext>
            </a:extLst>
          </p:cNvPr>
          <p:cNvSpPr txBox="1"/>
          <p:nvPr/>
        </p:nvSpPr>
        <p:spPr>
          <a:xfrm>
            <a:off x="1032725" y="1361557"/>
            <a:ext cx="97075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28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GET to retrieve data from provider, POST to send data to provider, …</a:t>
            </a:r>
            <a:endParaRPr kumimoji="0" lang="nl-NL" sz="2800" b="0" i="0" u="none" strike="noStrike" kern="1200" cap="none" spc="0" normalizeH="0" baseline="0" noProof="0" dirty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8059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/>
      <p:bldP spid="1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6063107"/>
          </a:xfrm>
        </p:spPr>
        <p:txBody>
          <a:bodyPr>
            <a:normAutofit/>
          </a:bodyPr>
          <a:lstStyle/>
          <a:p>
            <a:pPr algn="ctr"/>
            <a:r>
              <a:rPr lang="nl-NL" sz="720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Parameterized testing</a:t>
            </a:r>
            <a:endParaRPr lang="nl-NL" sz="7200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42658" y="455256"/>
            <a:ext cx="97075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28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Run the same test more than once…</a:t>
            </a:r>
            <a:endParaRPr kumimoji="0" lang="nl-NL" sz="2800" b="0" i="0" u="none" strike="noStrike" kern="1200" cap="none" spc="0" normalizeH="0" baseline="0" noProof="0" dirty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61348E-B393-4F88-87B7-0D94D07C05A6}"/>
              </a:ext>
            </a:extLst>
          </p:cNvPr>
          <p:cNvSpPr txBox="1"/>
          <p:nvPr/>
        </p:nvSpPr>
        <p:spPr>
          <a:xfrm>
            <a:off x="1688652" y="4711614"/>
            <a:ext cx="98081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28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More efficient to do this at the API level…</a:t>
            </a:r>
            <a:endParaRPr kumimoji="0" lang="nl-NL" sz="2800" b="0" i="0" u="none" strike="noStrike" kern="1200" cap="none" spc="0" normalizeH="0" baseline="0" noProof="0" dirty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249514-5CC5-485D-9571-9AA8B7934841}"/>
              </a:ext>
            </a:extLst>
          </p:cNvPr>
          <p:cNvSpPr txBox="1"/>
          <p:nvPr/>
        </p:nvSpPr>
        <p:spPr>
          <a:xfrm>
            <a:off x="1032725" y="1361557"/>
            <a:ext cx="97075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28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… for different combinations of input and expected output values</a:t>
            </a:r>
            <a:endParaRPr kumimoji="0" lang="nl-NL" sz="2800" b="0" i="0" u="none" strike="noStrike" kern="1200" cap="none" spc="0" normalizeH="0" baseline="0" noProof="0" dirty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6" name="TextBox 10">
            <a:extLst>
              <a:ext uri="{FF2B5EF4-FFF2-40B4-BE49-F238E27FC236}">
                <a16:creationId xmlns:a16="http://schemas.microsoft.com/office/drawing/2014/main" id="{5AC4C70B-9696-4CFE-B968-47D7EA53937A}"/>
              </a:ext>
            </a:extLst>
          </p:cNvPr>
          <p:cNvSpPr txBox="1"/>
          <p:nvPr/>
        </p:nvSpPr>
        <p:spPr>
          <a:xfrm>
            <a:off x="762265" y="5569923"/>
            <a:ext cx="98081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28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… as compared to doing this at the UI level</a:t>
            </a:r>
            <a:endParaRPr kumimoji="0" lang="nl-NL" sz="2800" b="0" i="0" u="none" strike="noStrike" kern="1200" cap="none" spc="0" normalizeH="0" baseline="0" noProof="0" dirty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3326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/>
      <p:bldP spid="13" grpId="0"/>
      <p:bldP spid="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Afbeelding 11">
            <a:extLst>
              <a:ext uri="{FF2B5EF4-FFF2-40B4-BE49-F238E27FC236}">
                <a16:creationId xmlns:a16="http://schemas.microsoft.com/office/drawing/2014/main" id="{C81EFA63-F743-CA45-ABD7-ED1C9E38BE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641" y="2091663"/>
            <a:ext cx="11834717" cy="419119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FC3CF2B-B9E7-4290-A8A3-A82E395275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6939" y="29849"/>
            <a:ext cx="11658122" cy="1325559"/>
          </a:xfrm>
        </p:spPr>
        <p:txBody>
          <a:bodyPr/>
          <a:lstStyle/>
          <a:p>
            <a:pPr lvl="0"/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‘Feeding’ test data to your test</a:t>
            </a:r>
          </a:p>
        </p:txBody>
      </p:sp>
      <p:sp>
        <p:nvSpPr>
          <p:cNvPr id="4" name="Oval 4">
            <a:extLst>
              <a:ext uri="{FF2B5EF4-FFF2-40B4-BE49-F238E27FC236}">
                <a16:creationId xmlns:a16="http://schemas.microsoft.com/office/drawing/2014/main" id="{43E322A0-E6FC-4518-9B79-5C35BBAC0671}"/>
              </a:ext>
            </a:extLst>
          </p:cNvPr>
          <p:cNvSpPr/>
          <p:nvPr/>
        </p:nvSpPr>
        <p:spPr>
          <a:xfrm flipV="1">
            <a:off x="111759" y="2091662"/>
            <a:ext cx="12080241" cy="1078466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C8D42064-D961-4B5C-908D-8B122F58DF83}"/>
              </a:ext>
            </a:extLst>
          </p:cNvPr>
          <p:cNvSpPr txBox="1"/>
          <p:nvPr/>
        </p:nvSpPr>
        <p:spPr>
          <a:xfrm>
            <a:off x="758310" y="1316449"/>
            <a:ext cx="86193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Define test cases using the [TestCase] attribute (one for every iteration with test data values separated by commas)</a:t>
            </a:r>
            <a:endParaRPr lang="en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Oval 4">
            <a:extLst>
              <a:ext uri="{FF2B5EF4-FFF2-40B4-BE49-F238E27FC236}">
                <a16:creationId xmlns:a16="http://schemas.microsoft.com/office/drawing/2014/main" id="{F21CCCBB-F532-47AB-906C-4B3E468BBB8A}"/>
              </a:ext>
            </a:extLst>
          </p:cNvPr>
          <p:cNvSpPr/>
          <p:nvPr/>
        </p:nvSpPr>
        <p:spPr>
          <a:xfrm flipV="1">
            <a:off x="3921760" y="3293676"/>
            <a:ext cx="6085839" cy="467356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76336CB8-190E-45D9-910F-47A929EF42A0}"/>
              </a:ext>
            </a:extLst>
          </p:cNvPr>
          <p:cNvSpPr txBox="1"/>
          <p:nvPr/>
        </p:nvSpPr>
        <p:spPr>
          <a:xfrm>
            <a:off x="7123550" y="3864095"/>
            <a:ext cx="45082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 parameters to pass the test data values into the method</a:t>
            </a:r>
            <a:endParaRPr lang="en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Oval 4">
            <a:extLst>
              <a:ext uri="{FF2B5EF4-FFF2-40B4-BE49-F238E27FC236}">
                <a16:creationId xmlns:a16="http://schemas.microsoft.com/office/drawing/2014/main" id="{E0751175-03B0-40F6-B620-04ACC86EF617}"/>
              </a:ext>
            </a:extLst>
          </p:cNvPr>
          <p:cNvSpPr/>
          <p:nvPr/>
        </p:nvSpPr>
        <p:spPr>
          <a:xfrm flipV="1">
            <a:off x="4147305" y="4293889"/>
            <a:ext cx="1452880" cy="467356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Oval 4">
            <a:extLst>
              <a:ext uri="{FF2B5EF4-FFF2-40B4-BE49-F238E27FC236}">
                <a16:creationId xmlns:a16="http://schemas.microsoft.com/office/drawing/2014/main" id="{2B08A87D-8A7E-4CC3-B338-4B681769672C}"/>
              </a:ext>
            </a:extLst>
          </p:cNvPr>
          <p:cNvSpPr/>
          <p:nvPr/>
        </p:nvSpPr>
        <p:spPr>
          <a:xfrm flipV="1">
            <a:off x="6377425" y="5518625"/>
            <a:ext cx="3027680" cy="467356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EA280C12-2171-4F34-B499-3841BA79E188}"/>
              </a:ext>
            </a:extLst>
          </p:cNvPr>
          <p:cNvSpPr txBox="1"/>
          <p:nvPr/>
        </p:nvSpPr>
        <p:spPr>
          <a:xfrm>
            <a:off x="4721620" y="6149726"/>
            <a:ext cx="72034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 parameters in the test method where appropriate</a:t>
            </a:r>
            <a:endParaRPr lang="en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7" grpId="0"/>
      <p:bldP spid="9" grpId="0" animBg="1"/>
      <p:bldP spid="10" grpId="0" animBg="1"/>
      <p:bldP spid="1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F85AE527-0D15-E416-F063-6CC384B7C0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939" y="1042040"/>
            <a:ext cx="11834717" cy="419119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FC3CF2B-B9E7-4290-A8A3-A82E395275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6939" y="29849"/>
            <a:ext cx="11658122" cy="1012191"/>
          </a:xfrm>
        </p:spPr>
        <p:txBody>
          <a:bodyPr/>
          <a:lstStyle/>
          <a:p>
            <a:pPr lvl="0"/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Running the parameterized test</a:t>
            </a:r>
          </a:p>
        </p:txBody>
      </p:sp>
      <p:sp>
        <p:nvSpPr>
          <p:cNvPr id="16" name="Tekstvak 15">
            <a:extLst>
              <a:ext uri="{FF2B5EF4-FFF2-40B4-BE49-F238E27FC236}">
                <a16:creationId xmlns:a16="http://schemas.microsoft.com/office/drawing/2014/main" id="{9E0260A9-87AF-4EDA-B29C-CFE419F9AD7E}"/>
              </a:ext>
            </a:extLst>
          </p:cNvPr>
          <p:cNvSpPr txBox="1"/>
          <p:nvPr/>
        </p:nvSpPr>
        <p:spPr>
          <a:xfrm>
            <a:off x="8404133" y="5509741"/>
            <a:ext cx="36975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The test method is run three times, once for each iteration</a:t>
            </a:r>
          </a:p>
          <a:p>
            <a:r>
              <a:rPr lang="en-US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(or ‘test case’)</a:t>
            </a:r>
            <a:endParaRPr lang="en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E3ACB5CA-2CEF-DDCE-658C-DD29BE66DA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895" y="4557723"/>
            <a:ext cx="7707542" cy="1904037"/>
          </a:xfrm>
          <a:prstGeom prst="rect">
            <a:avLst/>
          </a:prstGeom>
          <a:ln>
            <a:solidFill>
              <a:srgbClr val="00FF00"/>
            </a:solidFill>
          </a:ln>
        </p:spPr>
      </p:pic>
    </p:spTree>
    <p:extLst>
      <p:ext uri="{BB962C8B-B14F-4D97-AF65-F5344CB8AC3E}">
        <p14:creationId xmlns:p14="http://schemas.microsoft.com/office/powerpoint/2010/main" val="2772312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62EA1-E49C-41E5-9096-5370BBDC11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" y="1"/>
            <a:ext cx="10515600" cy="985520"/>
          </a:xfrm>
        </p:spPr>
        <p:txBody>
          <a:bodyPr/>
          <a:lstStyle/>
          <a:p>
            <a:pPr lvl="0"/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Now it’s your turn!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455EF-CD7A-4AB7-A52F-3E8CD80F761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21920" y="1219200"/>
            <a:ext cx="12003405" cy="5476240"/>
          </a:xfrm>
        </p:spPr>
        <p:txBody>
          <a:bodyPr>
            <a:normAutofit/>
          </a:bodyPr>
          <a:lstStyle/>
          <a:p>
            <a:pPr lvl="0">
              <a:lnSpc>
                <a:spcPct val="70000"/>
              </a:lnSpc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Exercises &gt; Exercises02.cs</a:t>
            </a:r>
          </a:p>
          <a:p>
            <a:pPr lvl="0">
              <a:lnSpc>
                <a:spcPct val="70000"/>
              </a:lnSpc>
              <a:buFont typeface="Courier New" pitchFamily="49"/>
              <a:buChar char="_"/>
            </a:pPr>
            <a:endParaRPr lang="nl-NL" sz="260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Parameterized tests</a:t>
            </a:r>
          </a:p>
          <a:p>
            <a:pPr lvl="1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Creating iterations using the [TestCase] annotation</a:t>
            </a:r>
          </a:p>
          <a:p>
            <a:pPr lvl="1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Using parameterized data to call the right URI</a:t>
            </a:r>
          </a:p>
          <a:p>
            <a:pPr lvl="1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Using parameterized data in assertions</a:t>
            </a:r>
          </a:p>
          <a:p>
            <a:pPr>
              <a:lnSpc>
                <a:spcPct val="70000"/>
              </a:lnSpc>
              <a:buFont typeface="Courier New" pitchFamily="49"/>
              <a:buChar char="_"/>
            </a:pPr>
            <a:endParaRPr lang="nl-NL" sz="260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>
              <a:lnSpc>
                <a:spcPct val="70000"/>
              </a:lnSpc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Answers are in Answers &gt; Answers02.cs</a:t>
            </a:r>
          </a:p>
          <a:p>
            <a:pPr lvl="0">
              <a:lnSpc>
                <a:spcPct val="70000"/>
              </a:lnSpc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lnSpc>
                <a:spcPct val="70000"/>
              </a:lnSpc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Examples are in Examples &gt; Examples02.cs</a:t>
            </a:r>
          </a:p>
          <a:p>
            <a:pPr lvl="0">
              <a:lnSpc>
                <a:spcPct val="70000"/>
              </a:lnSpc>
              <a:buFont typeface="Courier New" pitchFamily="49"/>
              <a:buChar char="_"/>
            </a:pPr>
            <a:endParaRPr lang="nl-NL" sz="260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lnSpc>
                <a:spcPct val="70000"/>
              </a:lnSpc>
              <a:buFont typeface="Courier New" pitchFamily="49"/>
              <a:buChar char="_"/>
            </a:pPr>
            <a:endParaRPr lang="nl-NL" sz="260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lnSpc>
                <a:spcPct val="70000"/>
              </a:lnSpc>
              <a:buFont typeface="Courier New" pitchFamily="49"/>
              <a:buChar char="_"/>
            </a:pPr>
            <a:endParaRPr lang="nl-NL" sz="260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lnSpc>
                <a:spcPct val="70000"/>
              </a:lnSpc>
              <a:buFont typeface="Courier New" pitchFamily="49"/>
              <a:buChar char="_"/>
            </a:pPr>
            <a:endParaRPr lang="nl-NL" sz="260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lnSpc>
                <a:spcPct val="70000"/>
              </a:lnSpc>
              <a:buFont typeface="Courier New" pitchFamily="49"/>
              <a:buChar char="_"/>
            </a:pPr>
            <a:endParaRPr lang="nl-NL" sz="260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</p:txBody>
      </p:sp>
    </p:spTree>
    <p:extLst>
      <p:ext uri="{BB962C8B-B14F-4D97-AF65-F5344CB8AC3E}">
        <p14:creationId xmlns:p14="http://schemas.microsoft.com/office/powerpoint/2010/main" val="20855131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6D5AC-03E0-4F51-8671-65F7902C75F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Authentication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43971-C89F-4B4C-A79A-17E0D0D8315E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Securing APIs</a:t>
            </a: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Most common authentication schemes:</a:t>
            </a: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1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Basic authentication (username / password)</a:t>
            </a: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1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Token-based, often using OAuth(2)</a:t>
            </a:r>
          </a:p>
          <a:p>
            <a:pPr marL="0" lvl="0" indent="0">
              <a:buNone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280667B5-D363-3C02-09A7-AF0DDC8BE8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325" y="1690688"/>
            <a:ext cx="8261350" cy="48392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8FBD64-CA7F-4EC5-AAD8-4A56E61E2E3B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Basic authentication</a:t>
            </a:r>
          </a:p>
        </p:txBody>
      </p:sp>
      <p:sp>
        <p:nvSpPr>
          <p:cNvPr id="7" name="Oval 4">
            <a:extLst>
              <a:ext uri="{FF2B5EF4-FFF2-40B4-BE49-F238E27FC236}">
                <a16:creationId xmlns:a16="http://schemas.microsoft.com/office/drawing/2014/main" id="{BF5E1571-D36C-4BC6-B60C-6C94B1B93EF3}"/>
              </a:ext>
            </a:extLst>
          </p:cNvPr>
          <p:cNvSpPr/>
          <p:nvPr/>
        </p:nvSpPr>
        <p:spPr>
          <a:xfrm flipV="1">
            <a:off x="3281680" y="3786593"/>
            <a:ext cx="7233920" cy="531406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A788146D-D31E-487E-BDA8-8DA48BFE2872}"/>
              </a:ext>
            </a:extLst>
          </p:cNvPr>
          <p:cNvSpPr txBox="1"/>
          <p:nvPr/>
        </p:nvSpPr>
        <p:spPr>
          <a:xfrm>
            <a:off x="6096001" y="3016247"/>
            <a:ext cx="5984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 will add the Authorization header to the request, with the appropriate value</a:t>
            </a:r>
            <a:endParaRPr lang="en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0230A8ED-1F0C-6AF9-FFF2-95351DCD93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1012" y="1601769"/>
            <a:ext cx="8689975" cy="49732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A0D34C-9F52-4680-B1B9-8D6E50749FB4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OAuth(2)</a:t>
            </a:r>
          </a:p>
        </p:txBody>
      </p:sp>
      <p:sp>
        <p:nvSpPr>
          <p:cNvPr id="7" name="Oval 4">
            <a:extLst>
              <a:ext uri="{FF2B5EF4-FFF2-40B4-BE49-F238E27FC236}">
                <a16:creationId xmlns:a16="http://schemas.microsoft.com/office/drawing/2014/main" id="{0391BC6A-4C83-482A-A4B8-192AA8F33D53}"/>
              </a:ext>
            </a:extLst>
          </p:cNvPr>
          <p:cNvSpPr/>
          <p:nvPr/>
        </p:nvSpPr>
        <p:spPr>
          <a:xfrm flipV="1">
            <a:off x="3220720" y="3760209"/>
            <a:ext cx="7112000" cy="480603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D406BBA2-ACE4-4C8E-A690-B5B0D128C5D2}"/>
              </a:ext>
            </a:extLst>
          </p:cNvPr>
          <p:cNvSpPr txBox="1"/>
          <p:nvPr/>
        </p:nvSpPr>
        <p:spPr>
          <a:xfrm>
            <a:off x="4175760" y="3028928"/>
            <a:ext cx="79076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The authentication token is typically retrieved prior to running the tests to ensure that a valid token is used</a:t>
            </a:r>
            <a:endParaRPr lang="en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AF25D-EE8F-42E0-81D4-914F2CEEA2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755703" cy="1325559"/>
          </a:xfrm>
        </p:spPr>
        <p:txBody>
          <a:bodyPr/>
          <a:lstStyle/>
          <a:p>
            <a:pPr lvl="0"/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Sharing variables between tests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BB5A0-D59D-409C-96D0-A5FC1EF5B63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2" y="1825627"/>
            <a:ext cx="11353797" cy="4351336"/>
          </a:xfrm>
        </p:spPr>
        <p:txBody>
          <a:bodyPr/>
          <a:lstStyle/>
          <a:p>
            <a:pPr lvl="0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Example: tokens, uniquely generated IDs</a:t>
            </a: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First call returns a unique value (e.g. a new user ID)</a:t>
            </a: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Second call needs to use this generated value</a:t>
            </a: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Since there’s no way to predict the value, we need to capture and reuse it</a:t>
            </a: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fbeelding 3">
            <a:extLst>
              <a:ext uri="{FF2B5EF4-FFF2-40B4-BE49-F238E27FC236}">
                <a16:creationId xmlns:a16="http://schemas.microsoft.com/office/drawing/2014/main" id="{36E0D33C-52E4-C566-5720-D19E9D1E70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5877" y="0"/>
            <a:ext cx="8546123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7A6FE96E-B730-4181-B8E7-7E972F70E5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5440" y="304800"/>
            <a:ext cx="3300437" cy="2540000"/>
          </a:xfrm>
        </p:spPr>
        <p:txBody>
          <a:bodyPr>
            <a:normAutofit/>
          </a:bodyPr>
          <a:lstStyle/>
          <a:p>
            <a:pPr lvl="0"/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Sharing variables between</a:t>
            </a:r>
            <a:b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</a:b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tests </a:t>
            </a:r>
          </a:p>
        </p:txBody>
      </p:sp>
      <p:sp>
        <p:nvSpPr>
          <p:cNvPr id="11" name="Oval 4">
            <a:extLst>
              <a:ext uri="{FF2B5EF4-FFF2-40B4-BE49-F238E27FC236}">
                <a16:creationId xmlns:a16="http://schemas.microsoft.com/office/drawing/2014/main" id="{1DB38F95-11D6-484E-99FE-631186B94CA3}"/>
              </a:ext>
            </a:extLst>
          </p:cNvPr>
          <p:cNvSpPr/>
          <p:nvPr/>
        </p:nvSpPr>
        <p:spPr>
          <a:xfrm flipV="1">
            <a:off x="5064760" y="2997811"/>
            <a:ext cx="1981200" cy="415946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Oval 4">
            <a:extLst>
              <a:ext uri="{FF2B5EF4-FFF2-40B4-BE49-F238E27FC236}">
                <a16:creationId xmlns:a16="http://schemas.microsoft.com/office/drawing/2014/main" id="{D4337873-F81B-42B3-BC23-407599E87734}"/>
              </a:ext>
            </a:extLst>
          </p:cNvPr>
          <p:cNvSpPr/>
          <p:nvPr/>
        </p:nvSpPr>
        <p:spPr>
          <a:xfrm flipV="1">
            <a:off x="4982699" y="3373118"/>
            <a:ext cx="2590800" cy="415946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CDD82D94-C326-4385-88A6-9DEAF9489F9F}"/>
              </a:ext>
            </a:extLst>
          </p:cNvPr>
          <p:cNvSpPr txBox="1"/>
          <p:nvPr/>
        </p:nvSpPr>
        <p:spPr>
          <a:xfrm>
            <a:off x="7829005" y="3132433"/>
            <a:ext cx="33629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Body()</a:t>
            </a:r>
            <a:r>
              <a:rPr lang="en-US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takes a JsonPath expression to extract the required value</a:t>
            </a:r>
            <a:endParaRPr lang="en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Oval 4">
            <a:extLst>
              <a:ext uri="{FF2B5EF4-FFF2-40B4-BE49-F238E27FC236}">
                <a16:creationId xmlns:a16="http://schemas.microsoft.com/office/drawing/2014/main" id="{38EB747D-1C5F-439E-AEE0-BC1FF148EC80}"/>
              </a:ext>
            </a:extLst>
          </p:cNvPr>
          <p:cNvSpPr/>
          <p:nvPr/>
        </p:nvSpPr>
        <p:spPr>
          <a:xfrm flipV="1">
            <a:off x="4304714" y="1502409"/>
            <a:ext cx="2590800" cy="419101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kstvak 14">
            <a:extLst>
              <a:ext uri="{FF2B5EF4-FFF2-40B4-BE49-F238E27FC236}">
                <a16:creationId xmlns:a16="http://schemas.microsoft.com/office/drawing/2014/main" id="{5A2BF558-9921-4B6B-89B6-1FD936727617}"/>
              </a:ext>
            </a:extLst>
          </p:cNvPr>
          <p:cNvSpPr txBox="1"/>
          <p:nvPr/>
        </p:nvSpPr>
        <p:spPr>
          <a:xfrm>
            <a:off x="4264074" y="1101767"/>
            <a:ext cx="6546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The return value can be stored in a variable…</a:t>
            </a:r>
            <a:endParaRPr lang="en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Oval 4">
            <a:extLst>
              <a:ext uri="{FF2B5EF4-FFF2-40B4-BE49-F238E27FC236}">
                <a16:creationId xmlns:a16="http://schemas.microsoft.com/office/drawing/2014/main" id="{08AC4C0F-98C2-4387-B049-FAD6659EB849}"/>
              </a:ext>
            </a:extLst>
          </p:cNvPr>
          <p:cNvSpPr/>
          <p:nvPr/>
        </p:nvSpPr>
        <p:spPr>
          <a:xfrm flipV="1">
            <a:off x="8453120" y="4491587"/>
            <a:ext cx="1432560" cy="419101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kstvak 16">
            <a:extLst>
              <a:ext uri="{FF2B5EF4-FFF2-40B4-BE49-F238E27FC236}">
                <a16:creationId xmlns:a16="http://schemas.microsoft.com/office/drawing/2014/main" id="{3323A698-0C8A-42DA-A4DD-7104DC3CA129}"/>
              </a:ext>
            </a:extLst>
          </p:cNvPr>
          <p:cNvSpPr txBox="1"/>
          <p:nvPr/>
        </p:nvSpPr>
        <p:spPr>
          <a:xfrm>
            <a:off x="6879770" y="4915789"/>
            <a:ext cx="5261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 and reused at a later point in time</a:t>
            </a:r>
            <a:endParaRPr lang="en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/>
      <p:bldP spid="14" grpId="0" animBg="1"/>
      <p:bldP spid="15" grpId="0"/>
      <p:bldP spid="16" grpId="0" animBg="1"/>
      <p:bldP spid="17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28B7E-A8A5-440D-A2EF-70F5F1A6E3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755703" cy="1325559"/>
          </a:xfrm>
        </p:spPr>
        <p:txBody>
          <a:bodyPr/>
          <a:lstStyle/>
          <a:p>
            <a:pPr lvl="0"/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RequestSpecifications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C9555-BF25-4C34-BB19-D98813CAFE0D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6"/>
            <a:ext cx="11021564" cy="4859653"/>
          </a:xfrm>
        </p:spPr>
        <p:txBody>
          <a:bodyPr>
            <a:normAutofit/>
          </a:bodyPr>
          <a:lstStyle/>
          <a:p>
            <a:pPr lvl="0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Reuse shared properties shared by many calls</a:t>
            </a:r>
          </a:p>
          <a:p>
            <a:pPr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Base URI</a:t>
            </a:r>
          </a:p>
          <a:p>
            <a:pPr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Port</a:t>
            </a:r>
          </a:p>
          <a:p>
            <a:pPr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Headers, authentication, cookies</a:t>
            </a:r>
          </a:p>
          <a:p>
            <a:pPr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…</a:t>
            </a: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</p:txBody>
      </p:sp>
    </p:spTree>
    <p:extLst>
      <p:ext uri="{BB962C8B-B14F-4D97-AF65-F5344CB8AC3E}">
        <p14:creationId xmlns:p14="http://schemas.microsoft.com/office/powerpoint/2010/main" val="291455099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Afbeelding 7">
            <a:extLst>
              <a:ext uri="{FF2B5EF4-FFF2-40B4-BE49-F238E27FC236}">
                <a16:creationId xmlns:a16="http://schemas.microsoft.com/office/drawing/2014/main" id="{602698E1-BB38-210E-0630-5AFB7D6C99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4337" y="435053"/>
            <a:ext cx="4114800" cy="2695575"/>
          </a:xfrm>
          <a:prstGeom prst="rect">
            <a:avLst/>
          </a:prstGeom>
        </p:spPr>
      </p:pic>
      <p:pic>
        <p:nvPicPr>
          <p:cNvPr id="4" name="Afbeelding 3">
            <a:extLst>
              <a:ext uri="{FF2B5EF4-FFF2-40B4-BE49-F238E27FC236}">
                <a16:creationId xmlns:a16="http://schemas.microsoft.com/office/drawing/2014/main" id="{2E4B8C7C-798E-6195-2E66-AB32C6BC9D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3263154"/>
            <a:ext cx="8229633" cy="359305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8728B7E-A8A5-440D-A2EF-70F5F1A6E3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8923" y="377675"/>
            <a:ext cx="10755703" cy="1325559"/>
          </a:xfrm>
        </p:spPr>
        <p:txBody>
          <a:bodyPr/>
          <a:lstStyle/>
          <a:p>
            <a:pPr lvl="0"/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Defining and using a RequestSpecification</a:t>
            </a:r>
          </a:p>
        </p:txBody>
      </p:sp>
      <p:sp>
        <p:nvSpPr>
          <p:cNvPr id="10" name="Oval 4">
            <a:extLst>
              <a:ext uri="{FF2B5EF4-FFF2-40B4-BE49-F238E27FC236}">
                <a16:creationId xmlns:a16="http://schemas.microsoft.com/office/drawing/2014/main" id="{58E5E937-178E-4D94-AFBE-2C1D4EEF2A67}"/>
              </a:ext>
            </a:extLst>
          </p:cNvPr>
          <p:cNvSpPr/>
          <p:nvPr/>
        </p:nvSpPr>
        <p:spPr>
          <a:xfrm flipV="1">
            <a:off x="975360" y="6151638"/>
            <a:ext cx="1737360" cy="419101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F071E717-7109-4870-AA18-68594E6608C1}"/>
              </a:ext>
            </a:extLst>
          </p:cNvPr>
          <p:cNvSpPr txBox="1"/>
          <p:nvPr/>
        </p:nvSpPr>
        <p:spPr>
          <a:xfrm>
            <a:off x="2843454" y="6308205"/>
            <a:ext cx="8952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Build your RequestSpecification using a fluent Builder pattern…</a:t>
            </a:r>
            <a:endParaRPr lang="en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Oval 4">
            <a:extLst>
              <a:ext uri="{FF2B5EF4-FFF2-40B4-BE49-F238E27FC236}">
                <a16:creationId xmlns:a16="http://schemas.microsoft.com/office/drawing/2014/main" id="{A764A14A-CD19-4168-93B5-61566C13997A}"/>
              </a:ext>
            </a:extLst>
          </p:cNvPr>
          <p:cNvSpPr/>
          <p:nvPr/>
        </p:nvSpPr>
        <p:spPr>
          <a:xfrm flipV="1">
            <a:off x="8668589" y="1582089"/>
            <a:ext cx="2484117" cy="346131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07D20E1B-EDA8-4652-825D-CDF4F106874F}"/>
              </a:ext>
            </a:extLst>
          </p:cNvPr>
          <p:cNvSpPr txBox="1"/>
          <p:nvPr/>
        </p:nvSpPr>
        <p:spPr>
          <a:xfrm>
            <a:off x="8658429" y="3075257"/>
            <a:ext cx="33926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 and use it by calling </a:t>
            </a:r>
            <a:r>
              <a:rPr lang="en-US" i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Spec()</a:t>
            </a:r>
            <a:r>
              <a:rPr lang="en-US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 the </a:t>
            </a:r>
            <a:r>
              <a:rPr lang="en-US" i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Given()</a:t>
            </a:r>
            <a:r>
              <a:rPr lang="en-US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section of your test</a:t>
            </a:r>
            <a:endParaRPr lang="en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  <p:bldP spid="12" grpId="0" animBg="1"/>
      <p:bldP spid="13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62EA1-E49C-41E5-9096-5370BBDC11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" y="1"/>
            <a:ext cx="10515600" cy="985520"/>
          </a:xfrm>
        </p:spPr>
        <p:txBody>
          <a:bodyPr/>
          <a:lstStyle/>
          <a:p>
            <a:pPr lvl="0"/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Now it’s your turn!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455EF-CD7A-4AB7-A52F-3E8CD80F761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21920" y="1219200"/>
            <a:ext cx="12003405" cy="5476240"/>
          </a:xfrm>
        </p:spPr>
        <p:txBody>
          <a:bodyPr>
            <a:normAutofit/>
          </a:bodyPr>
          <a:lstStyle/>
          <a:p>
            <a:pPr lvl="0">
              <a:lnSpc>
                <a:spcPct val="70000"/>
              </a:lnSpc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Exercises &gt; Exercises03.cs</a:t>
            </a:r>
          </a:p>
          <a:p>
            <a:pPr lvl="0">
              <a:lnSpc>
                <a:spcPct val="70000"/>
              </a:lnSpc>
              <a:buFont typeface="Courier New" pitchFamily="49"/>
              <a:buChar char="_"/>
            </a:pPr>
            <a:endParaRPr lang="nl-NL" sz="260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lnSpc>
                <a:spcPct val="70000"/>
              </a:lnSpc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Reuse shared values</a:t>
            </a:r>
            <a:endParaRPr lang="nl-NL" sz="260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1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Apply value reuse as shown in the slides</a:t>
            </a:r>
          </a:p>
          <a:p>
            <a:pPr lvl="1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Use basic and OAUth authentication schemes</a:t>
            </a:r>
          </a:p>
          <a:p>
            <a:pPr lvl="1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Extract common values to a RequestSpecification</a:t>
            </a:r>
          </a:p>
          <a:p>
            <a:pPr>
              <a:lnSpc>
                <a:spcPct val="70000"/>
              </a:lnSpc>
              <a:buFont typeface="Courier New" pitchFamily="49"/>
              <a:buChar char="_"/>
            </a:pPr>
            <a:endParaRPr lang="nl-NL" sz="260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>
              <a:lnSpc>
                <a:spcPct val="70000"/>
              </a:lnSpc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Answers are in Answers &gt; Answers03.cs</a:t>
            </a:r>
          </a:p>
          <a:p>
            <a:pPr lvl="0">
              <a:lnSpc>
                <a:spcPct val="70000"/>
              </a:lnSpc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lnSpc>
                <a:spcPct val="70000"/>
              </a:lnSpc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Examples are in Examples &gt; Examples03.cs</a:t>
            </a:r>
          </a:p>
          <a:p>
            <a:pPr lvl="0">
              <a:lnSpc>
                <a:spcPct val="70000"/>
              </a:lnSpc>
              <a:buFont typeface="Courier New" pitchFamily="49"/>
              <a:buChar char="_"/>
            </a:pPr>
            <a:endParaRPr lang="nl-NL" sz="260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lnSpc>
                <a:spcPct val="70000"/>
              </a:lnSpc>
              <a:buFont typeface="Courier New" pitchFamily="49"/>
              <a:buChar char="_"/>
            </a:pPr>
            <a:endParaRPr lang="nl-NL" sz="260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lnSpc>
                <a:spcPct val="70000"/>
              </a:lnSpc>
              <a:buFont typeface="Courier New" pitchFamily="49"/>
              <a:buChar char="_"/>
            </a:pPr>
            <a:endParaRPr lang="nl-NL" sz="260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lnSpc>
                <a:spcPct val="70000"/>
              </a:lnSpc>
              <a:buFont typeface="Courier New" pitchFamily="49"/>
              <a:buChar char="_"/>
            </a:pPr>
            <a:endParaRPr lang="nl-NL" sz="260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lnSpc>
                <a:spcPct val="70000"/>
              </a:lnSpc>
              <a:buFont typeface="Courier New" pitchFamily="49"/>
              <a:buChar char="_"/>
            </a:pPr>
            <a:endParaRPr lang="nl-NL" sz="260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</p:txBody>
      </p:sp>
    </p:spTree>
    <p:extLst>
      <p:ext uri="{BB962C8B-B14F-4D97-AF65-F5344CB8AC3E}">
        <p14:creationId xmlns:p14="http://schemas.microsoft.com/office/powerpoint/2010/main" val="261178157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D86807-6974-29BD-0825-71CA83BF8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3D007-E3A5-C440-ED13-61A05F30B07F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nl-NL" dirty="0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Working with XML responses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C0C0C5-D6C6-9976-82A2-8DC4A6C41463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Font typeface="Courier New" pitchFamily="49"/>
              <a:buChar char="_"/>
            </a:pPr>
            <a:r>
              <a:rPr lang="nl-NL" dirty="0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REST APIs can return XML responses, too</a:t>
            </a:r>
          </a:p>
          <a:p>
            <a:pPr lvl="0">
              <a:buFont typeface="Courier New" pitchFamily="49"/>
              <a:buChar char="_"/>
            </a:pPr>
            <a:endParaRPr lang="nl-NL" dirty="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r>
              <a:rPr lang="nl-NL" dirty="0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RestAssured.Net can work with this data format, too</a:t>
            </a:r>
          </a:p>
          <a:p>
            <a:pPr lvl="0">
              <a:buFont typeface="Courier New" pitchFamily="49"/>
              <a:buChar char="_"/>
            </a:pPr>
            <a:endParaRPr lang="nl-NL" dirty="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r>
              <a:rPr lang="nl-NL" dirty="0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Use XPath instead of JsonPath to select response body element(s)</a:t>
            </a:r>
          </a:p>
        </p:txBody>
      </p:sp>
    </p:spTree>
    <p:extLst>
      <p:ext uri="{BB962C8B-B14F-4D97-AF65-F5344CB8AC3E}">
        <p14:creationId xmlns:p14="http://schemas.microsoft.com/office/powerpoint/2010/main" val="3535827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B085E1-AA7B-5570-3B54-C2CA2F84E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BD97AED2-D8A5-4C5F-698D-B4B723B6B8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2997934"/>
            <a:ext cx="12192001" cy="365528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CE7AF00-3181-D09A-BE95-DEE0257E55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3843" y="0"/>
            <a:ext cx="6758157" cy="2464931"/>
          </a:xfrm>
          <a:prstGeom prst="rect">
            <a:avLst/>
          </a:prstGeom>
        </p:spPr>
      </p:pic>
      <p:sp>
        <p:nvSpPr>
          <p:cNvPr id="12" name="Oval 4">
            <a:extLst>
              <a:ext uri="{FF2B5EF4-FFF2-40B4-BE49-F238E27FC236}">
                <a16:creationId xmlns:a16="http://schemas.microsoft.com/office/drawing/2014/main" id="{D3BDCBFB-AB07-F124-8460-37FE3469C440}"/>
              </a:ext>
            </a:extLst>
          </p:cNvPr>
          <p:cNvSpPr/>
          <p:nvPr/>
        </p:nvSpPr>
        <p:spPr>
          <a:xfrm flipV="1">
            <a:off x="1684962" y="5835723"/>
            <a:ext cx="2065106" cy="554806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0F436A40-6498-74BE-5F91-5C8692A487FF}"/>
              </a:ext>
            </a:extLst>
          </p:cNvPr>
          <p:cNvSpPr/>
          <p:nvPr/>
        </p:nvSpPr>
        <p:spPr>
          <a:xfrm>
            <a:off x="4274050" y="1232465"/>
            <a:ext cx="1664413" cy="369870"/>
          </a:xfrm>
          <a:prstGeom prst="rightArrow">
            <a:avLst/>
          </a:prstGeom>
          <a:solidFill>
            <a:srgbClr val="00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" name="Tekstvak 9">
            <a:extLst>
              <a:ext uri="{FF2B5EF4-FFF2-40B4-BE49-F238E27FC236}">
                <a16:creationId xmlns:a16="http://schemas.microsoft.com/office/drawing/2014/main" id="{8934CBDA-D98D-11A8-1B67-671B0267A84F}"/>
              </a:ext>
            </a:extLst>
          </p:cNvPr>
          <p:cNvSpPr txBox="1"/>
          <p:nvPr/>
        </p:nvSpPr>
        <p:spPr>
          <a:xfrm>
            <a:off x="650536" y="986557"/>
            <a:ext cx="40344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we want to verify that the value of the ‘type’ field is equal to CHECKING …</a:t>
            </a:r>
            <a:endParaRPr lang="en-NL" i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kstvak 9">
            <a:extLst>
              <a:ext uri="{FF2B5EF4-FFF2-40B4-BE49-F238E27FC236}">
                <a16:creationId xmlns:a16="http://schemas.microsoft.com/office/drawing/2014/main" id="{69CBD4C4-292D-205B-8F89-84F9546F0DCE}"/>
              </a:ext>
            </a:extLst>
          </p:cNvPr>
          <p:cNvSpPr txBox="1"/>
          <p:nvPr/>
        </p:nvSpPr>
        <p:spPr>
          <a:xfrm>
            <a:off x="3618135" y="5502111"/>
            <a:ext cx="8043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 we can get the element value with this XPath expression</a:t>
            </a:r>
            <a:endParaRPr lang="en-NL" i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9565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2" grpId="0"/>
      <p:bldP spid="3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24D716-A1F7-864A-24D5-D988B025E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BEFC98A-AAF4-9A24-9012-9A640F69A0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4967" y="0"/>
            <a:ext cx="4077034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259F916-8B81-829F-748D-80A26E29ED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067160"/>
            <a:ext cx="11182505" cy="3790840"/>
          </a:xfrm>
          <a:prstGeom prst="rect">
            <a:avLst/>
          </a:prstGeom>
        </p:spPr>
      </p:pic>
      <p:sp>
        <p:nvSpPr>
          <p:cNvPr id="12" name="Oval 4">
            <a:extLst>
              <a:ext uri="{FF2B5EF4-FFF2-40B4-BE49-F238E27FC236}">
                <a16:creationId xmlns:a16="http://schemas.microsoft.com/office/drawing/2014/main" id="{448D3D81-44F6-2A2B-EF63-2F76897A9724}"/>
              </a:ext>
            </a:extLst>
          </p:cNvPr>
          <p:cNvSpPr/>
          <p:nvPr/>
        </p:nvSpPr>
        <p:spPr>
          <a:xfrm flipV="1">
            <a:off x="880782" y="5537641"/>
            <a:ext cx="7451564" cy="935080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95E48935-B2FE-C627-5246-8E442FAC4F91}"/>
              </a:ext>
            </a:extLst>
          </p:cNvPr>
          <p:cNvSpPr/>
          <p:nvPr/>
        </p:nvSpPr>
        <p:spPr>
          <a:xfrm>
            <a:off x="7017250" y="1877598"/>
            <a:ext cx="1664413" cy="369870"/>
          </a:xfrm>
          <a:prstGeom prst="rightArrow">
            <a:avLst/>
          </a:prstGeom>
          <a:solidFill>
            <a:srgbClr val="00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" name="Tekstvak 9">
            <a:extLst>
              <a:ext uri="{FF2B5EF4-FFF2-40B4-BE49-F238E27FC236}">
                <a16:creationId xmlns:a16="http://schemas.microsoft.com/office/drawing/2014/main" id="{EB1C7F78-0825-9189-17B5-E8D6031A67B7}"/>
              </a:ext>
            </a:extLst>
          </p:cNvPr>
          <p:cNvSpPr txBox="1"/>
          <p:nvPr/>
        </p:nvSpPr>
        <p:spPr>
          <a:xfrm>
            <a:off x="3198527" y="1572184"/>
            <a:ext cx="40344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we want to verify that the list of all CHECKING account ids contains the value 12678 …</a:t>
            </a:r>
            <a:endParaRPr lang="en-NL" i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kstvak 9">
            <a:extLst>
              <a:ext uri="{FF2B5EF4-FFF2-40B4-BE49-F238E27FC236}">
                <a16:creationId xmlns:a16="http://schemas.microsoft.com/office/drawing/2014/main" id="{33C667B2-C634-1FE0-7E2F-819328E9B6FA}"/>
              </a:ext>
            </a:extLst>
          </p:cNvPr>
          <p:cNvSpPr txBox="1"/>
          <p:nvPr/>
        </p:nvSpPr>
        <p:spPr>
          <a:xfrm>
            <a:off x="7017250" y="5242994"/>
            <a:ext cx="4034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  we can do that like this</a:t>
            </a:r>
            <a:endParaRPr lang="en-NL" i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4604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2" grpId="0"/>
      <p:bldP spid="3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018104-0F2F-E8A8-7063-9F3366394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BE1C7-F77C-CEE4-EC4B-11DB099D31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" y="1"/>
            <a:ext cx="10515600" cy="985520"/>
          </a:xfrm>
        </p:spPr>
        <p:txBody>
          <a:bodyPr/>
          <a:lstStyle/>
          <a:p>
            <a:pPr lvl="0"/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Now it’s your turn!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FC5AEE-5612-747F-794F-02233F8183F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21920" y="1219200"/>
            <a:ext cx="12003405" cy="5476240"/>
          </a:xfrm>
        </p:spPr>
        <p:txBody>
          <a:bodyPr>
            <a:normAutofit/>
          </a:bodyPr>
          <a:lstStyle/>
          <a:p>
            <a:pPr lvl="0">
              <a:lnSpc>
                <a:spcPct val="70000"/>
              </a:lnSpc>
              <a:buFont typeface="Courier New" pitchFamily="49"/>
              <a:buChar char="_"/>
            </a:pPr>
            <a:r>
              <a:rPr lang="nl-NL" dirty="0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Exercises &gt; Exercises04.cs</a:t>
            </a:r>
          </a:p>
          <a:p>
            <a:pPr lvl="0">
              <a:lnSpc>
                <a:spcPct val="70000"/>
              </a:lnSpc>
              <a:buFont typeface="Courier New" pitchFamily="49"/>
              <a:buChar char="_"/>
            </a:pPr>
            <a:endParaRPr lang="nl-NL" sz="2600" dirty="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lnSpc>
                <a:spcPct val="70000"/>
              </a:lnSpc>
              <a:buFont typeface="Courier New" pitchFamily="49"/>
              <a:buChar char="_"/>
            </a:pPr>
            <a:r>
              <a:rPr lang="nl-NL" dirty="0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Work with APIs returning XML response bodies</a:t>
            </a:r>
            <a:endParaRPr lang="nl-NL" sz="2600" dirty="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1">
              <a:buFont typeface="Courier New" pitchFamily="49"/>
              <a:buChar char="_"/>
            </a:pPr>
            <a:r>
              <a:rPr lang="nl-NL" dirty="0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Verify XML response body element values</a:t>
            </a:r>
          </a:p>
          <a:p>
            <a:pPr lvl="1">
              <a:buFont typeface="Courier New" pitchFamily="49"/>
              <a:buChar char="_"/>
            </a:pPr>
            <a:r>
              <a:rPr lang="nl-NL" dirty="0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Create the required XPath expressions yourself</a:t>
            </a:r>
          </a:p>
          <a:p>
            <a:pPr lvl="1">
              <a:buFont typeface="Courier New" pitchFamily="49"/>
              <a:buChar char="_"/>
            </a:pPr>
            <a:endParaRPr lang="nl-NL" sz="2600" dirty="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>
              <a:lnSpc>
                <a:spcPct val="70000"/>
              </a:lnSpc>
              <a:buFont typeface="Courier New" pitchFamily="49"/>
              <a:buChar char="_"/>
            </a:pPr>
            <a:r>
              <a:rPr lang="nl-NL" dirty="0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Answers are in Answers &gt; Answers04.cs</a:t>
            </a:r>
          </a:p>
          <a:p>
            <a:pPr lvl="0">
              <a:lnSpc>
                <a:spcPct val="70000"/>
              </a:lnSpc>
              <a:buFont typeface="Courier New" pitchFamily="49"/>
              <a:buChar char="_"/>
            </a:pPr>
            <a:endParaRPr lang="nl-NL" dirty="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lnSpc>
                <a:spcPct val="70000"/>
              </a:lnSpc>
              <a:buFont typeface="Courier New" pitchFamily="49"/>
              <a:buChar char="_"/>
            </a:pPr>
            <a:r>
              <a:rPr lang="nl-NL" dirty="0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Examples are in Examples &gt; Examples04.cs</a:t>
            </a:r>
          </a:p>
          <a:p>
            <a:pPr lvl="0">
              <a:lnSpc>
                <a:spcPct val="70000"/>
              </a:lnSpc>
              <a:buFont typeface="Courier New" pitchFamily="49"/>
              <a:buChar char="_"/>
            </a:pPr>
            <a:endParaRPr lang="nl-NL" sz="2600" dirty="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lnSpc>
                <a:spcPct val="70000"/>
              </a:lnSpc>
              <a:buFont typeface="Courier New" pitchFamily="49"/>
              <a:buChar char="_"/>
            </a:pPr>
            <a:endParaRPr lang="nl-NL" sz="2600" dirty="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lnSpc>
                <a:spcPct val="70000"/>
              </a:lnSpc>
              <a:buFont typeface="Courier New" pitchFamily="49"/>
              <a:buChar char="_"/>
            </a:pPr>
            <a:endParaRPr lang="nl-NL" sz="2600" dirty="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lnSpc>
                <a:spcPct val="70000"/>
              </a:lnSpc>
              <a:buFont typeface="Courier New" pitchFamily="49"/>
              <a:buChar char="_"/>
            </a:pPr>
            <a:endParaRPr lang="nl-NL" sz="2600" dirty="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lnSpc>
                <a:spcPct val="70000"/>
              </a:lnSpc>
              <a:buFont typeface="Courier New" pitchFamily="49"/>
              <a:buChar char="_"/>
            </a:pPr>
            <a:endParaRPr lang="nl-NL" sz="2600" dirty="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</p:txBody>
      </p:sp>
    </p:spTree>
    <p:extLst>
      <p:ext uri="{BB962C8B-B14F-4D97-AF65-F5344CB8AC3E}">
        <p14:creationId xmlns:p14="http://schemas.microsoft.com/office/powerpoint/2010/main" val="127642848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5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A8611-28F4-4AB8-85C1-A8929B703A1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(De-)serialization of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E4A852-6104-45E5-A676-5FE22EF09FC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2" y="1825627"/>
            <a:ext cx="11018517" cy="4351336"/>
          </a:xfrm>
        </p:spPr>
        <p:txBody>
          <a:bodyPr>
            <a:normAutofit/>
          </a:bodyPr>
          <a:lstStyle/>
          <a:p>
            <a:pPr lvl="0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RestAssured.Net is able to convert objects directly to XML or JSON (and back)</a:t>
            </a: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Useful when dealing with API payloads</a:t>
            </a:r>
          </a:p>
          <a:p>
            <a:pPr lvl="1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Creating request body payloads</a:t>
            </a:r>
          </a:p>
          <a:p>
            <a:pPr lvl="1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Processing response body payloads</a:t>
            </a:r>
          </a:p>
          <a:p>
            <a:pPr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No need for additional configuration or libraries</a:t>
            </a: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5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A5FE6-0550-43A2-9B4C-13A78AA17AFB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Example: serialization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43C4EF-5EB3-44EE-9D4D-2A83A2C28728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663067"/>
            <a:ext cx="10515600" cy="4351336"/>
          </a:xfrm>
        </p:spPr>
        <p:txBody>
          <a:bodyPr/>
          <a:lstStyle/>
          <a:p>
            <a:pPr lvl="0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Class / DTO / POCO / … representing a blog post</a:t>
            </a: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7F640CB7-441B-1252-96CD-DB2D7AD8C8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6322" y="2382954"/>
            <a:ext cx="7539355" cy="4317089"/>
          </a:xfrm>
          <a:prstGeom prst="rect">
            <a:avLst/>
          </a:prstGeom>
        </p:spPr>
      </p:pic>
      <p:sp>
        <p:nvSpPr>
          <p:cNvPr id="7" name="Oval 4">
            <a:extLst>
              <a:ext uri="{FF2B5EF4-FFF2-40B4-BE49-F238E27FC236}">
                <a16:creationId xmlns:a16="http://schemas.microsoft.com/office/drawing/2014/main" id="{23DFA16E-5F30-3203-99EA-9A4AB625C4CB}"/>
              </a:ext>
            </a:extLst>
          </p:cNvPr>
          <p:cNvSpPr/>
          <p:nvPr/>
        </p:nvSpPr>
        <p:spPr>
          <a:xfrm flipV="1">
            <a:off x="2763520" y="2995340"/>
            <a:ext cx="3870960" cy="423499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74F63611-8FC6-7E5A-0979-AEC652D8569E}"/>
              </a:ext>
            </a:extLst>
          </p:cNvPr>
          <p:cNvSpPr txBox="1"/>
          <p:nvPr/>
        </p:nvSpPr>
        <p:spPr>
          <a:xfrm>
            <a:off x="6776720" y="2644717"/>
            <a:ext cx="51281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RestAssured.Net uses Json.NET for (de-)serialization, which means that all Json.NET attributes can be used</a:t>
            </a:r>
            <a:endParaRPr lang="en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77FDCDA0-ADE2-A00A-ABF5-7C89C3B0C094}"/>
              </a:ext>
            </a:extLst>
          </p:cNvPr>
          <p:cNvSpPr txBox="1"/>
          <p:nvPr/>
        </p:nvSpPr>
        <p:spPr>
          <a:xfrm>
            <a:off x="7821127" y="3717368"/>
            <a:ext cx="35634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[JsonProperty] defines the name of the property as it appears in JSON</a:t>
            </a:r>
            <a:endParaRPr lang="en-NL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5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Afbeelding 5">
            <a:extLst>
              <a:ext uri="{FF2B5EF4-FFF2-40B4-BE49-F238E27FC236}">
                <a16:creationId xmlns:a16="http://schemas.microsoft.com/office/drawing/2014/main" id="{B3BD2DFB-4F21-85DC-C503-F4E175983F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644" y="913934"/>
            <a:ext cx="8373185" cy="568626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C165156-DD4C-4A0F-B83E-8AA26921E3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3525" y="156904"/>
            <a:ext cx="10515600" cy="843687"/>
          </a:xfrm>
        </p:spPr>
        <p:txBody>
          <a:bodyPr/>
          <a:lstStyle/>
          <a:p>
            <a:pPr lvl="0"/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Example: serialization</a:t>
            </a:r>
          </a:p>
        </p:txBody>
      </p:sp>
      <p:sp>
        <p:nvSpPr>
          <p:cNvPr id="8" name="Oval 4">
            <a:extLst>
              <a:ext uri="{FF2B5EF4-FFF2-40B4-BE49-F238E27FC236}">
                <a16:creationId xmlns:a16="http://schemas.microsoft.com/office/drawing/2014/main" id="{9B56CDF5-FCB2-441F-B48C-53544D850245}"/>
              </a:ext>
            </a:extLst>
          </p:cNvPr>
          <p:cNvSpPr/>
          <p:nvPr/>
        </p:nvSpPr>
        <p:spPr>
          <a:xfrm flipV="1">
            <a:off x="1236692" y="4619994"/>
            <a:ext cx="2113280" cy="423499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BF62F386-DB03-4721-ACBE-9915FDB168E0}"/>
              </a:ext>
            </a:extLst>
          </p:cNvPr>
          <p:cNvSpPr txBox="1"/>
          <p:nvPr/>
        </p:nvSpPr>
        <p:spPr>
          <a:xfrm>
            <a:off x="3290426" y="4195836"/>
            <a:ext cx="8373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 then pass it as a request body using </a:t>
            </a:r>
            <a:r>
              <a:rPr lang="en-US" i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Body()</a:t>
            </a:r>
            <a:r>
              <a:rPr lang="en-US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endParaRPr lang="en-NL" i="1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Oval 4">
            <a:extLst>
              <a:ext uri="{FF2B5EF4-FFF2-40B4-BE49-F238E27FC236}">
                <a16:creationId xmlns:a16="http://schemas.microsoft.com/office/drawing/2014/main" id="{94BA22B6-43CC-8AA9-AE78-C5ED60A17D4E}"/>
              </a:ext>
            </a:extLst>
          </p:cNvPr>
          <p:cNvSpPr/>
          <p:nvPr/>
        </p:nvSpPr>
        <p:spPr>
          <a:xfrm flipV="1">
            <a:off x="518160" y="1900852"/>
            <a:ext cx="3779520" cy="2246078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CEE48FD9-F42E-A91D-9EDC-4EDFFE905E2E}"/>
              </a:ext>
            </a:extLst>
          </p:cNvPr>
          <p:cNvSpPr txBox="1"/>
          <p:nvPr/>
        </p:nvSpPr>
        <p:spPr>
          <a:xfrm>
            <a:off x="4297680" y="2174584"/>
            <a:ext cx="4074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a new Post object …</a:t>
            </a:r>
            <a:endParaRPr lang="en-NL" i="1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CD416975-4D89-ABCE-ECE6-F8F005D1C0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324" y="4624700"/>
            <a:ext cx="6350567" cy="1605217"/>
          </a:xfrm>
          <a:prstGeom prst="rect">
            <a:avLst/>
          </a:prstGeom>
          <a:ln>
            <a:solidFill>
              <a:srgbClr val="00FF00"/>
            </a:solidFill>
          </a:ln>
        </p:spPr>
      </p:pic>
      <p:sp>
        <p:nvSpPr>
          <p:cNvPr id="14" name="Tekstvak 13">
            <a:extLst>
              <a:ext uri="{FF2B5EF4-FFF2-40B4-BE49-F238E27FC236}">
                <a16:creationId xmlns:a16="http://schemas.microsoft.com/office/drawing/2014/main" id="{8F67C2E3-8FE8-1D2E-7DEC-B29984D15540}"/>
              </a:ext>
            </a:extLst>
          </p:cNvPr>
          <p:cNvSpPr txBox="1"/>
          <p:nvPr/>
        </p:nvSpPr>
        <p:spPr>
          <a:xfrm>
            <a:off x="3403600" y="6385055"/>
            <a:ext cx="8747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 and RestAssured.Net will serialize it to JSON automatically</a:t>
            </a:r>
            <a:endParaRPr lang="en-NL" i="1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/>
      <p:bldP spid="7" grpId="0" animBg="1"/>
      <p:bldP spid="9" grpId="0"/>
      <p:bldP spid="14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fbeelding 3">
            <a:extLst>
              <a:ext uri="{FF2B5EF4-FFF2-40B4-BE49-F238E27FC236}">
                <a16:creationId xmlns:a16="http://schemas.microsoft.com/office/drawing/2014/main" id="{80BE33C7-C853-53C3-B91E-32186E0BCE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525" y="1000591"/>
            <a:ext cx="8243036" cy="55729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C165156-DD4C-4A0F-B83E-8AA26921E3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3525" y="156904"/>
            <a:ext cx="10515600" cy="843687"/>
          </a:xfrm>
        </p:spPr>
        <p:txBody>
          <a:bodyPr/>
          <a:lstStyle/>
          <a:p>
            <a:pPr lvl="0"/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Serializing anonymous objects</a:t>
            </a:r>
          </a:p>
        </p:txBody>
      </p:sp>
      <p:sp>
        <p:nvSpPr>
          <p:cNvPr id="8" name="Oval 4">
            <a:extLst>
              <a:ext uri="{FF2B5EF4-FFF2-40B4-BE49-F238E27FC236}">
                <a16:creationId xmlns:a16="http://schemas.microsoft.com/office/drawing/2014/main" id="{9B56CDF5-FCB2-441F-B48C-53544D850245}"/>
              </a:ext>
            </a:extLst>
          </p:cNvPr>
          <p:cNvSpPr/>
          <p:nvPr/>
        </p:nvSpPr>
        <p:spPr>
          <a:xfrm flipV="1">
            <a:off x="1236692" y="4619994"/>
            <a:ext cx="2113280" cy="423499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BF62F386-DB03-4721-ACBE-9915FDB168E0}"/>
              </a:ext>
            </a:extLst>
          </p:cNvPr>
          <p:cNvSpPr txBox="1"/>
          <p:nvPr/>
        </p:nvSpPr>
        <p:spPr>
          <a:xfrm>
            <a:off x="3290426" y="4195836"/>
            <a:ext cx="8373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 then pass it as a request body using </a:t>
            </a:r>
            <a:r>
              <a:rPr lang="en-US" i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Body()</a:t>
            </a:r>
            <a:r>
              <a:rPr lang="en-US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endParaRPr lang="en-NL" i="1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Oval 4">
            <a:extLst>
              <a:ext uri="{FF2B5EF4-FFF2-40B4-BE49-F238E27FC236}">
                <a16:creationId xmlns:a16="http://schemas.microsoft.com/office/drawing/2014/main" id="{94BA22B6-43CC-8AA9-AE78-C5ED60A17D4E}"/>
              </a:ext>
            </a:extLst>
          </p:cNvPr>
          <p:cNvSpPr/>
          <p:nvPr/>
        </p:nvSpPr>
        <p:spPr>
          <a:xfrm flipV="1">
            <a:off x="518160" y="1900852"/>
            <a:ext cx="3779520" cy="2246078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CEE48FD9-F42E-A91D-9EDC-4EDFFE905E2E}"/>
              </a:ext>
            </a:extLst>
          </p:cNvPr>
          <p:cNvSpPr txBox="1"/>
          <p:nvPr/>
        </p:nvSpPr>
        <p:spPr>
          <a:xfrm>
            <a:off x="4297680" y="2174584"/>
            <a:ext cx="4463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a new anonymous object …</a:t>
            </a:r>
            <a:endParaRPr lang="en-NL" i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CD416975-4D89-ABCE-ECE6-F8F005D1C0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324" y="4624700"/>
            <a:ext cx="6350567" cy="1605217"/>
          </a:xfrm>
          <a:prstGeom prst="rect">
            <a:avLst/>
          </a:prstGeom>
          <a:ln>
            <a:solidFill>
              <a:srgbClr val="00FF00"/>
            </a:solidFill>
          </a:ln>
        </p:spPr>
      </p:pic>
      <p:sp>
        <p:nvSpPr>
          <p:cNvPr id="14" name="Tekstvak 13">
            <a:extLst>
              <a:ext uri="{FF2B5EF4-FFF2-40B4-BE49-F238E27FC236}">
                <a16:creationId xmlns:a16="http://schemas.microsoft.com/office/drawing/2014/main" id="{8F67C2E3-8FE8-1D2E-7DEC-B29984D15540}"/>
              </a:ext>
            </a:extLst>
          </p:cNvPr>
          <p:cNvSpPr txBox="1"/>
          <p:nvPr/>
        </p:nvSpPr>
        <p:spPr>
          <a:xfrm>
            <a:off x="3403600" y="6385055"/>
            <a:ext cx="8747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 and RestAssured.Net will serialize it to JSON automatically</a:t>
            </a:r>
            <a:endParaRPr lang="en-NL" i="1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84157498-8656-6239-6C64-31F336D2C883}"/>
              </a:ext>
            </a:extLst>
          </p:cNvPr>
          <p:cNvSpPr txBox="1"/>
          <p:nvPr/>
        </p:nvSpPr>
        <p:spPr>
          <a:xfrm>
            <a:off x="7584897" y="2628178"/>
            <a:ext cx="46071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 is useful for one-off request payloads, as it doesn’t require you to create a separate class to serialize from</a:t>
            </a:r>
            <a:endParaRPr lang="en-NL" i="1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7822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/>
      <p:bldP spid="7" grpId="0" animBg="1"/>
      <p:bldP spid="9" grpId="0"/>
      <p:bldP spid="14" grpId="0"/>
      <p:bldP spid="5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5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783599A-67F3-3A9B-97EB-DA2913DC4F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285" y="1690688"/>
            <a:ext cx="11599430" cy="499718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727E199-D381-4902-BF17-321E866ED285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Example: deserialization</a:t>
            </a:r>
          </a:p>
        </p:txBody>
      </p:sp>
      <p:sp>
        <p:nvSpPr>
          <p:cNvPr id="7" name="Oval 4">
            <a:extLst>
              <a:ext uri="{FF2B5EF4-FFF2-40B4-BE49-F238E27FC236}">
                <a16:creationId xmlns:a16="http://schemas.microsoft.com/office/drawing/2014/main" id="{8F69138E-4C6C-4723-A76A-DEA668963EBA}"/>
              </a:ext>
            </a:extLst>
          </p:cNvPr>
          <p:cNvSpPr/>
          <p:nvPr/>
        </p:nvSpPr>
        <p:spPr>
          <a:xfrm flipV="1">
            <a:off x="1412946" y="5073877"/>
            <a:ext cx="4416354" cy="423497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A9DF27B5-A277-4885-927F-31B5B318237A}"/>
              </a:ext>
            </a:extLst>
          </p:cNvPr>
          <p:cNvSpPr txBox="1"/>
          <p:nvPr/>
        </p:nvSpPr>
        <p:spPr>
          <a:xfrm>
            <a:off x="5889811" y="4955735"/>
            <a:ext cx="45558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Specify the type to deserialize to using </a:t>
            </a:r>
            <a:r>
              <a:rPr lang="en-US" i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DeserializeTo</a:t>
            </a:r>
            <a:r>
              <a:rPr lang="en-US" i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&lt;T&gt;()</a:t>
            </a:r>
            <a:r>
              <a:rPr lang="en-US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endParaRPr lang="en-NL" i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Oval 4">
            <a:extLst>
              <a:ext uri="{FF2B5EF4-FFF2-40B4-BE49-F238E27FC236}">
                <a16:creationId xmlns:a16="http://schemas.microsoft.com/office/drawing/2014/main" id="{97AA3BEC-FE89-450B-8090-5056FA950F6E}"/>
              </a:ext>
            </a:extLst>
          </p:cNvPr>
          <p:cNvSpPr/>
          <p:nvPr/>
        </p:nvSpPr>
        <p:spPr>
          <a:xfrm flipV="1">
            <a:off x="826701" y="3201919"/>
            <a:ext cx="1808925" cy="423499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B03B7633-B0FC-411A-8878-7491B8121E5E}"/>
              </a:ext>
            </a:extLst>
          </p:cNvPr>
          <p:cNvSpPr txBox="1"/>
          <p:nvPr/>
        </p:nvSpPr>
        <p:spPr>
          <a:xfrm>
            <a:off x="2232990" y="2877287"/>
            <a:ext cx="9936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 store the deserialized response payload in an object of that type…</a:t>
            </a:r>
            <a:endParaRPr lang="en-NL" i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Oval 4">
            <a:extLst>
              <a:ext uri="{FF2B5EF4-FFF2-40B4-BE49-F238E27FC236}">
                <a16:creationId xmlns:a16="http://schemas.microsoft.com/office/drawing/2014/main" id="{63591BAF-76CF-4DF1-9F88-83E1F895D94F}"/>
              </a:ext>
            </a:extLst>
          </p:cNvPr>
          <p:cNvSpPr/>
          <p:nvPr/>
        </p:nvSpPr>
        <p:spPr>
          <a:xfrm flipV="1">
            <a:off x="2834641" y="5837794"/>
            <a:ext cx="2295412" cy="423495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062F0795-070C-4EB0-BBCF-02855DC79040}"/>
              </a:ext>
            </a:extLst>
          </p:cNvPr>
          <p:cNvSpPr txBox="1"/>
          <p:nvPr/>
        </p:nvSpPr>
        <p:spPr>
          <a:xfrm>
            <a:off x="2834641" y="6272255"/>
            <a:ext cx="9530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 and then use it in the remainder of your test method as required</a:t>
            </a:r>
            <a:endParaRPr lang="en-NL" i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Oval 4">
            <a:extLst>
              <a:ext uri="{FF2B5EF4-FFF2-40B4-BE49-F238E27FC236}">
                <a16:creationId xmlns:a16="http://schemas.microsoft.com/office/drawing/2014/main" id="{72CBE9DD-1CB7-3D05-AF6C-0C126B234E9F}"/>
              </a:ext>
            </a:extLst>
          </p:cNvPr>
          <p:cNvSpPr/>
          <p:nvPr/>
        </p:nvSpPr>
        <p:spPr>
          <a:xfrm flipV="1">
            <a:off x="1424940" y="4706246"/>
            <a:ext cx="3380740" cy="423498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312E9489-90E2-371F-D905-E5D460D1C60E}"/>
              </a:ext>
            </a:extLst>
          </p:cNvPr>
          <p:cNvSpPr txBox="1"/>
          <p:nvPr/>
        </p:nvSpPr>
        <p:spPr>
          <a:xfrm>
            <a:off x="4426396" y="4386181"/>
            <a:ext cx="7294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Perform response verifications as usual…</a:t>
            </a:r>
            <a:endParaRPr lang="en-NL" i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 animBg="1"/>
      <p:bldP spid="10" grpId="0"/>
      <p:bldP spid="11" grpId="0" animBg="1"/>
      <p:bldP spid="12" grpId="0"/>
      <p:bldP spid="6" grpId="0" animBg="1"/>
      <p:bldP spid="13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AA253BD-7971-C5F4-A786-C01F452D0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391" y="2009243"/>
            <a:ext cx="11691218" cy="42711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727E199-D381-4902-BF17-321E866ED285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Example: deserialization (without initial checks)</a:t>
            </a:r>
          </a:p>
        </p:txBody>
      </p:sp>
      <p:sp>
        <p:nvSpPr>
          <p:cNvPr id="7" name="Oval 4">
            <a:extLst>
              <a:ext uri="{FF2B5EF4-FFF2-40B4-BE49-F238E27FC236}">
                <a16:creationId xmlns:a16="http://schemas.microsoft.com/office/drawing/2014/main" id="{8F69138E-4C6C-4723-A76A-DEA668963EBA}"/>
              </a:ext>
            </a:extLst>
          </p:cNvPr>
          <p:cNvSpPr/>
          <p:nvPr/>
        </p:nvSpPr>
        <p:spPr>
          <a:xfrm flipV="1">
            <a:off x="1418664" y="4632138"/>
            <a:ext cx="4677335" cy="423499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A9DF27B5-A277-4885-927F-31B5B318237A}"/>
              </a:ext>
            </a:extLst>
          </p:cNvPr>
          <p:cNvSpPr txBox="1"/>
          <p:nvPr/>
        </p:nvSpPr>
        <p:spPr>
          <a:xfrm>
            <a:off x="6212541" y="4760313"/>
            <a:ext cx="54533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Specify the object type to deserialize to using </a:t>
            </a:r>
            <a:r>
              <a:rPr lang="en-US" i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DeserializeTo</a:t>
            </a:r>
            <a:r>
              <a:rPr lang="en-US" i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&lt;T&gt;()</a:t>
            </a:r>
            <a:r>
              <a:rPr lang="en-US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endParaRPr lang="en-NL" i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Oval 4">
            <a:extLst>
              <a:ext uri="{FF2B5EF4-FFF2-40B4-BE49-F238E27FC236}">
                <a16:creationId xmlns:a16="http://schemas.microsoft.com/office/drawing/2014/main" id="{97AA3BEC-FE89-450B-8090-5056FA950F6E}"/>
              </a:ext>
            </a:extLst>
          </p:cNvPr>
          <p:cNvSpPr/>
          <p:nvPr/>
        </p:nvSpPr>
        <p:spPr>
          <a:xfrm flipV="1">
            <a:off x="838203" y="3513181"/>
            <a:ext cx="1757680" cy="423499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B03B7633-B0FC-411A-8878-7491B8121E5E}"/>
              </a:ext>
            </a:extLst>
          </p:cNvPr>
          <p:cNvSpPr txBox="1"/>
          <p:nvPr/>
        </p:nvSpPr>
        <p:spPr>
          <a:xfrm>
            <a:off x="1805364" y="3176808"/>
            <a:ext cx="9548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 store the deserialized response payload in an object of that type…</a:t>
            </a:r>
            <a:endParaRPr lang="en-NL" i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Oval 4">
            <a:extLst>
              <a:ext uri="{FF2B5EF4-FFF2-40B4-BE49-F238E27FC236}">
                <a16:creationId xmlns:a16="http://schemas.microsoft.com/office/drawing/2014/main" id="{63591BAF-76CF-4DF1-9F88-83E1F895D94F}"/>
              </a:ext>
            </a:extLst>
          </p:cNvPr>
          <p:cNvSpPr/>
          <p:nvPr/>
        </p:nvSpPr>
        <p:spPr>
          <a:xfrm flipV="1">
            <a:off x="2935190" y="5420394"/>
            <a:ext cx="2235203" cy="423499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062F0795-070C-4EB0-BBCF-02855DC79040}"/>
              </a:ext>
            </a:extLst>
          </p:cNvPr>
          <p:cNvSpPr txBox="1"/>
          <p:nvPr/>
        </p:nvSpPr>
        <p:spPr>
          <a:xfrm>
            <a:off x="1113867" y="5908771"/>
            <a:ext cx="9548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 and then use it in the remainder of your test method as required</a:t>
            </a:r>
            <a:endParaRPr lang="en-NL" i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7207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 animBg="1"/>
      <p:bldP spid="10" grpId="0"/>
      <p:bldP spid="11" grpId="0" animBg="1"/>
      <p:bldP spid="12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62EA1-E49C-41E5-9096-5370BBDC11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" y="1"/>
            <a:ext cx="10515600" cy="985520"/>
          </a:xfrm>
        </p:spPr>
        <p:txBody>
          <a:bodyPr/>
          <a:lstStyle/>
          <a:p>
            <a:pPr lvl="0"/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Now it’s your turn!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455EF-CD7A-4AB7-A52F-3E8CD80F761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21920" y="1219200"/>
            <a:ext cx="12003405" cy="5476240"/>
          </a:xfrm>
        </p:spPr>
        <p:txBody>
          <a:bodyPr>
            <a:normAutofit/>
          </a:bodyPr>
          <a:lstStyle/>
          <a:p>
            <a:pPr lvl="0">
              <a:lnSpc>
                <a:spcPct val="70000"/>
              </a:lnSpc>
              <a:buFont typeface="Courier New" pitchFamily="49"/>
              <a:buChar char="_"/>
            </a:pPr>
            <a:r>
              <a:rPr lang="nl-NL" dirty="0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Exercises &gt; Exercises05.cs</a:t>
            </a:r>
          </a:p>
          <a:p>
            <a:pPr lvl="0">
              <a:lnSpc>
                <a:spcPct val="70000"/>
              </a:lnSpc>
              <a:buFont typeface="Courier New" pitchFamily="49"/>
              <a:buChar char="_"/>
            </a:pPr>
            <a:endParaRPr lang="nl-NL" sz="2600" dirty="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lnSpc>
                <a:spcPct val="70000"/>
              </a:lnSpc>
              <a:buFont typeface="Courier New" pitchFamily="49"/>
              <a:buChar char="_"/>
            </a:pPr>
            <a:r>
              <a:rPr lang="nl-NL" dirty="0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Practice with (de-)serialization</a:t>
            </a:r>
            <a:endParaRPr lang="nl-NL" sz="2600" dirty="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1">
              <a:buFont typeface="Courier New" pitchFamily="49"/>
              <a:buChar char="_"/>
            </a:pPr>
            <a:r>
              <a:rPr lang="nl-NL" dirty="0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You don’t need to create or adapt the classes / DTOs yourself, that has been done for you already. By all means go ahead and inspect them, though</a:t>
            </a:r>
          </a:p>
          <a:p>
            <a:pPr>
              <a:lnSpc>
                <a:spcPct val="70000"/>
              </a:lnSpc>
              <a:buFont typeface="Courier New" pitchFamily="49"/>
              <a:buChar char="_"/>
            </a:pPr>
            <a:endParaRPr lang="nl-NL" sz="2600" dirty="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>
              <a:lnSpc>
                <a:spcPct val="70000"/>
              </a:lnSpc>
              <a:buFont typeface="Courier New" pitchFamily="49"/>
              <a:buChar char="_"/>
            </a:pPr>
            <a:r>
              <a:rPr lang="nl-NL" dirty="0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Answers are in Answers &gt; Answers05.cs</a:t>
            </a:r>
          </a:p>
          <a:p>
            <a:pPr lvl="0">
              <a:lnSpc>
                <a:spcPct val="70000"/>
              </a:lnSpc>
              <a:buFont typeface="Courier New" pitchFamily="49"/>
              <a:buChar char="_"/>
            </a:pPr>
            <a:endParaRPr lang="nl-NL" dirty="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lnSpc>
                <a:spcPct val="70000"/>
              </a:lnSpc>
              <a:buFont typeface="Courier New" pitchFamily="49"/>
              <a:buChar char="_"/>
            </a:pPr>
            <a:r>
              <a:rPr lang="nl-NL" dirty="0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Examples are in Examples &gt; Examples05.cs</a:t>
            </a:r>
          </a:p>
          <a:p>
            <a:pPr lvl="0">
              <a:lnSpc>
                <a:spcPct val="70000"/>
              </a:lnSpc>
              <a:buFont typeface="Courier New" pitchFamily="49"/>
              <a:buChar char="_"/>
            </a:pPr>
            <a:endParaRPr lang="nl-NL" sz="2600" dirty="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lnSpc>
                <a:spcPct val="70000"/>
              </a:lnSpc>
              <a:buFont typeface="Courier New" pitchFamily="49"/>
              <a:buChar char="_"/>
            </a:pPr>
            <a:endParaRPr lang="nl-NL" sz="2600" dirty="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lnSpc>
                <a:spcPct val="70000"/>
              </a:lnSpc>
              <a:buFont typeface="Courier New" pitchFamily="49"/>
              <a:buChar char="_"/>
            </a:pPr>
            <a:endParaRPr lang="nl-NL" sz="2600" dirty="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lnSpc>
                <a:spcPct val="70000"/>
              </a:lnSpc>
              <a:buFont typeface="Courier New" pitchFamily="49"/>
              <a:buChar char="_"/>
            </a:pPr>
            <a:endParaRPr lang="nl-NL" sz="2600" dirty="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lnSpc>
                <a:spcPct val="70000"/>
              </a:lnSpc>
              <a:buFont typeface="Courier New" pitchFamily="49"/>
              <a:buChar char="_"/>
            </a:pPr>
            <a:endParaRPr lang="nl-NL" sz="2600" dirty="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</p:txBody>
      </p:sp>
    </p:spTree>
    <p:extLst>
      <p:ext uri="{BB962C8B-B14F-4D97-AF65-F5344CB8AC3E}">
        <p14:creationId xmlns:p14="http://schemas.microsoft.com/office/powerpoint/2010/main" val="399206063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" y="0"/>
            <a:ext cx="12191998" cy="6858000"/>
          </a:xfrm>
        </p:spPr>
        <p:txBody>
          <a:bodyPr>
            <a:noAutofit/>
          </a:bodyPr>
          <a:lstStyle/>
          <a:p>
            <a:pPr algn="ctr"/>
            <a:r>
              <a:rPr lang="nl-NL" sz="650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One challenge with ‘traditional’ REST APIs</a:t>
            </a:r>
            <a:endParaRPr lang="nl-NL" sz="6500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085516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675731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nl-NL" sz="600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GraphQL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688668" y="782816"/>
            <a:ext cx="9482095" cy="6276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36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Query language for APIs…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89186" y="1849617"/>
            <a:ext cx="11624442" cy="6276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36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… as well as a runtime to fulfill them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804354" y="4199713"/>
            <a:ext cx="10444898" cy="11533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36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“Ask for what you need,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36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and get exactly that”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4086225" y="5866589"/>
            <a:ext cx="7588704" cy="6276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36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https://graphql.org</a:t>
            </a:r>
          </a:p>
        </p:txBody>
      </p:sp>
    </p:spTree>
    <p:extLst>
      <p:ext uri="{BB962C8B-B14F-4D97-AF65-F5344CB8AC3E}">
        <p14:creationId xmlns:p14="http://schemas.microsoft.com/office/powerpoint/2010/main" val="300426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9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: afgeronde hoeken 4">
            <a:extLst>
              <a:ext uri="{FF2B5EF4-FFF2-40B4-BE49-F238E27FC236}">
                <a16:creationId xmlns:a16="http://schemas.microsoft.com/office/drawing/2014/main" id="{19B76B41-CC8F-4AB2-AA6B-522F63101910}"/>
              </a:ext>
            </a:extLst>
          </p:cNvPr>
          <p:cNvSpPr/>
          <p:nvPr/>
        </p:nvSpPr>
        <p:spPr>
          <a:xfrm>
            <a:off x="1219949" y="654659"/>
            <a:ext cx="2571750" cy="2343150"/>
          </a:xfrm>
          <a:prstGeom prst="roundRect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GraphQL API consumer</a:t>
            </a:r>
            <a:endParaRPr kumimoji="0" lang="aa-ET" sz="32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6" name="Rechthoek: afgeronde hoeken 5">
            <a:extLst>
              <a:ext uri="{FF2B5EF4-FFF2-40B4-BE49-F238E27FC236}">
                <a16:creationId xmlns:a16="http://schemas.microsoft.com/office/drawing/2014/main" id="{45B31714-79D5-4F9A-8CDB-E0FC8AE00BA5}"/>
              </a:ext>
            </a:extLst>
          </p:cNvPr>
          <p:cNvSpPr/>
          <p:nvPr/>
        </p:nvSpPr>
        <p:spPr>
          <a:xfrm>
            <a:off x="8420849" y="654659"/>
            <a:ext cx="2571750" cy="2343150"/>
          </a:xfrm>
          <a:prstGeom prst="roundRect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GraphQL API provider</a:t>
            </a:r>
            <a:endParaRPr kumimoji="0" lang="aa-ET" sz="32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7" name="Pijl: rechts 6">
            <a:extLst>
              <a:ext uri="{FF2B5EF4-FFF2-40B4-BE49-F238E27FC236}">
                <a16:creationId xmlns:a16="http://schemas.microsoft.com/office/drawing/2014/main" id="{61E5B8DE-27F1-444C-B282-6DBE3C392313}"/>
              </a:ext>
            </a:extLst>
          </p:cNvPr>
          <p:cNvSpPr/>
          <p:nvPr/>
        </p:nvSpPr>
        <p:spPr>
          <a:xfrm>
            <a:off x="4201274" y="1159483"/>
            <a:ext cx="3838575" cy="333375"/>
          </a:xfrm>
          <a:prstGeom prst="rightArrow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a-E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Pijl: rechts 7">
            <a:extLst>
              <a:ext uri="{FF2B5EF4-FFF2-40B4-BE49-F238E27FC236}">
                <a16:creationId xmlns:a16="http://schemas.microsoft.com/office/drawing/2014/main" id="{9C68E7DA-15F8-408B-B438-18A5C4EAD20B}"/>
              </a:ext>
            </a:extLst>
          </p:cNvPr>
          <p:cNvSpPr/>
          <p:nvPr/>
        </p:nvSpPr>
        <p:spPr>
          <a:xfrm rot="10800000">
            <a:off x="4186986" y="2159611"/>
            <a:ext cx="3838575" cy="333375"/>
          </a:xfrm>
          <a:prstGeom prst="rightArrow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a-E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69963B92-FFB0-45F5-972C-72AAB5C4ED2E}"/>
              </a:ext>
            </a:extLst>
          </p:cNvPr>
          <p:cNvSpPr txBox="1"/>
          <p:nvPr/>
        </p:nvSpPr>
        <p:spPr>
          <a:xfrm>
            <a:off x="4340090" y="582541"/>
            <a:ext cx="35118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28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request (query)</a:t>
            </a: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2BD73EEA-8D89-4B72-984D-EDDFFE2AD3A3}"/>
              </a:ext>
            </a:extLst>
          </p:cNvPr>
          <p:cNvSpPr txBox="1"/>
          <p:nvPr/>
        </p:nvSpPr>
        <p:spPr>
          <a:xfrm>
            <a:off x="4364651" y="2492986"/>
            <a:ext cx="35118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28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response (JSON)</a:t>
            </a: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9" name="Rechthoek: afgeronde hoeken 8">
            <a:extLst>
              <a:ext uri="{FF2B5EF4-FFF2-40B4-BE49-F238E27FC236}">
                <a16:creationId xmlns:a16="http://schemas.microsoft.com/office/drawing/2014/main" id="{02D3961F-1DC0-44CA-B053-7353E24A421C}"/>
              </a:ext>
            </a:extLst>
          </p:cNvPr>
          <p:cNvSpPr/>
          <p:nvPr/>
        </p:nvSpPr>
        <p:spPr>
          <a:xfrm>
            <a:off x="1219949" y="3860192"/>
            <a:ext cx="2571750" cy="2343150"/>
          </a:xfrm>
          <a:prstGeom prst="roundRect">
            <a:avLst/>
          </a:prstGeom>
          <a:noFill/>
          <a:ln w="38100">
            <a:solidFill>
              <a:srgbClr val="00FF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System</a:t>
            </a:r>
            <a:endParaRPr kumimoji="0" lang="aa-ET" sz="32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12" name="Rechthoek: afgeronde hoeken 11">
            <a:extLst>
              <a:ext uri="{FF2B5EF4-FFF2-40B4-BE49-F238E27FC236}">
                <a16:creationId xmlns:a16="http://schemas.microsoft.com/office/drawing/2014/main" id="{1F5ABE9D-1358-4D6A-92CE-3833E4EECE7F}"/>
              </a:ext>
            </a:extLst>
          </p:cNvPr>
          <p:cNvSpPr/>
          <p:nvPr/>
        </p:nvSpPr>
        <p:spPr>
          <a:xfrm>
            <a:off x="8420849" y="3860192"/>
            <a:ext cx="2571750" cy="2343150"/>
          </a:xfrm>
          <a:prstGeom prst="roundRect">
            <a:avLst/>
          </a:prstGeom>
          <a:noFill/>
          <a:ln w="38100">
            <a:solidFill>
              <a:srgbClr val="00FF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System</a:t>
            </a:r>
            <a:endParaRPr kumimoji="0" lang="aa-ET" sz="32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13" name="Pijl: rechts 12">
            <a:extLst>
              <a:ext uri="{FF2B5EF4-FFF2-40B4-BE49-F238E27FC236}">
                <a16:creationId xmlns:a16="http://schemas.microsoft.com/office/drawing/2014/main" id="{440413C3-A94B-49BF-997C-01B4F418D68D}"/>
              </a:ext>
            </a:extLst>
          </p:cNvPr>
          <p:cNvSpPr/>
          <p:nvPr/>
        </p:nvSpPr>
        <p:spPr>
          <a:xfrm rot="5400000">
            <a:off x="1892936" y="3264611"/>
            <a:ext cx="508725" cy="328773"/>
          </a:xfrm>
          <a:prstGeom prst="rightArrow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a-E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Pijl: rechts 13">
            <a:extLst>
              <a:ext uri="{FF2B5EF4-FFF2-40B4-BE49-F238E27FC236}">
                <a16:creationId xmlns:a16="http://schemas.microsoft.com/office/drawing/2014/main" id="{29F7FCED-4923-4C47-8D0D-E164AF00FD6C}"/>
              </a:ext>
            </a:extLst>
          </p:cNvPr>
          <p:cNvSpPr/>
          <p:nvPr/>
        </p:nvSpPr>
        <p:spPr>
          <a:xfrm rot="16200000">
            <a:off x="2651511" y="3264610"/>
            <a:ext cx="508725" cy="328773"/>
          </a:xfrm>
          <a:prstGeom prst="rightArrow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a-E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Pijl: rechts 14">
            <a:extLst>
              <a:ext uri="{FF2B5EF4-FFF2-40B4-BE49-F238E27FC236}">
                <a16:creationId xmlns:a16="http://schemas.microsoft.com/office/drawing/2014/main" id="{C201604D-A15E-4914-A093-ED3BB4E62DE3}"/>
              </a:ext>
            </a:extLst>
          </p:cNvPr>
          <p:cNvSpPr/>
          <p:nvPr/>
        </p:nvSpPr>
        <p:spPr>
          <a:xfrm rot="5400000">
            <a:off x="9031764" y="3264612"/>
            <a:ext cx="508725" cy="328773"/>
          </a:xfrm>
          <a:prstGeom prst="rightArrow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a-E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Pijl: rechts 15">
            <a:extLst>
              <a:ext uri="{FF2B5EF4-FFF2-40B4-BE49-F238E27FC236}">
                <a16:creationId xmlns:a16="http://schemas.microsoft.com/office/drawing/2014/main" id="{A49E548C-4572-40DB-8AD0-FFAAAF4B8DA6}"/>
              </a:ext>
            </a:extLst>
          </p:cNvPr>
          <p:cNvSpPr/>
          <p:nvPr/>
        </p:nvSpPr>
        <p:spPr>
          <a:xfrm rot="16200000">
            <a:off x="9790339" y="3264611"/>
            <a:ext cx="508725" cy="328773"/>
          </a:xfrm>
          <a:prstGeom prst="rightArrow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a-E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2104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0" grpId="0"/>
      <p:bldP spid="11" grpId="0"/>
      <p:bldP spid="9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675731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nl-NL" sz="600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Sending a GraphQL query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688668" y="782816"/>
            <a:ext cx="9482095" cy="6276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32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Create a valid GraphQL query…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89186" y="1849617"/>
            <a:ext cx="11624442" cy="6276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32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… and send it in the request body (</a:t>
            </a:r>
            <a:r>
              <a:rPr kumimoji="0" lang="nl-NL" sz="3200" b="0" i="1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query</a:t>
            </a:r>
            <a:r>
              <a:rPr kumimoji="0" lang="nl-NL" sz="32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34304" y="4100503"/>
            <a:ext cx="11323391" cy="11533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32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“Ask for what you need, and get exactly that”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76C2382-4305-1BD6-D499-D7A70F9FFF13}"/>
              </a:ext>
            </a:extLst>
          </p:cNvPr>
          <p:cNvSpPr txBox="1">
            <a:spLocks/>
          </p:cNvSpPr>
          <p:nvPr/>
        </p:nvSpPr>
        <p:spPr>
          <a:xfrm>
            <a:off x="1207266" y="5353050"/>
            <a:ext cx="10444898" cy="11533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32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Request payload is still in JSON format</a:t>
            </a:r>
          </a:p>
        </p:txBody>
      </p:sp>
    </p:spTree>
    <p:extLst>
      <p:ext uri="{BB962C8B-B14F-4D97-AF65-F5344CB8AC3E}">
        <p14:creationId xmlns:p14="http://schemas.microsoft.com/office/powerpoint/2010/main" val="436982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3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675731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nl-NL" sz="600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GraphQL API responses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04776" y="782816"/>
            <a:ext cx="12020550" cy="6276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36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These are ‘regular’ REST responses, with…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924050" y="1849617"/>
            <a:ext cx="9889578" cy="6276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36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… an HTTP status code, …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804354" y="4199713"/>
            <a:ext cx="10444898" cy="11533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36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… response headers… 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2809875" y="5267325"/>
            <a:ext cx="8865054" cy="11533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36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… and a JSON response body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36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containing the requested data</a:t>
            </a:r>
          </a:p>
        </p:txBody>
      </p:sp>
    </p:spTree>
    <p:extLst>
      <p:ext uri="{BB962C8B-B14F-4D97-AF65-F5344CB8AC3E}">
        <p14:creationId xmlns:p14="http://schemas.microsoft.com/office/powerpoint/2010/main" val="2484235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9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2ED72B-E18B-313A-E228-044EBE061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ED7FFC5-B853-6E86-6B0C-B9552E5F7F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7004879" cy="39452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EA886E1-3696-CD55-CEB4-A42B370B67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4600" y="1892221"/>
            <a:ext cx="9767400" cy="4965779"/>
          </a:xfrm>
          <a:prstGeom prst="rect">
            <a:avLst/>
          </a:prstGeom>
          <a:ln>
            <a:solidFill>
              <a:srgbClr val="00FF00"/>
            </a:solidFill>
          </a:ln>
        </p:spPr>
      </p:pic>
      <p:sp>
        <p:nvSpPr>
          <p:cNvPr id="9" name="Oval 4">
            <a:extLst>
              <a:ext uri="{FF2B5EF4-FFF2-40B4-BE49-F238E27FC236}">
                <a16:creationId xmlns:a16="http://schemas.microsoft.com/office/drawing/2014/main" id="{F7C385A3-1353-27A2-2538-57CA6A787507}"/>
              </a:ext>
            </a:extLst>
          </p:cNvPr>
          <p:cNvSpPr/>
          <p:nvPr/>
        </p:nvSpPr>
        <p:spPr>
          <a:xfrm flipV="1">
            <a:off x="2686007" y="2691828"/>
            <a:ext cx="7886101" cy="1849348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Oval 4">
            <a:extLst>
              <a:ext uri="{FF2B5EF4-FFF2-40B4-BE49-F238E27FC236}">
                <a16:creationId xmlns:a16="http://schemas.microsoft.com/office/drawing/2014/main" id="{4DB7C5DB-793D-C720-EA27-39B33A9A75AF}"/>
              </a:ext>
            </a:extLst>
          </p:cNvPr>
          <p:cNvSpPr/>
          <p:nvPr/>
        </p:nvSpPr>
        <p:spPr>
          <a:xfrm flipV="1">
            <a:off x="3382938" y="4714981"/>
            <a:ext cx="2545251" cy="440075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Oval 4">
            <a:extLst>
              <a:ext uri="{FF2B5EF4-FFF2-40B4-BE49-F238E27FC236}">
                <a16:creationId xmlns:a16="http://schemas.microsoft.com/office/drawing/2014/main" id="{E9D3237E-6651-9088-2D9E-97C2BB6480C2}"/>
              </a:ext>
            </a:extLst>
          </p:cNvPr>
          <p:cNvSpPr/>
          <p:nvPr/>
        </p:nvSpPr>
        <p:spPr>
          <a:xfrm flipV="1">
            <a:off x="3331568" y="6164491"/>
            <a:ext cx="4384324" cy="440075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kstvak 8">
            <a:extLst>
              <a:ext uri="{FF2B5EF4-FFF2-40B4-BE49-F238E27FC236}">
                <a16:creationId xmlns:a16="http://schemas.microsoft.com/office/drawing/2014/main" id="{B281BD48-957F-A3F2-9960-13BCED70A507}"/>
              </a:ext>
            </a:extLst>
          </p:cNvPr>
          <p:cNvSpPr txBox="1"/>
          <p:nvPr/>
        </p:nvSpPr>
        <p:spPr>
          <a:xfrm>
            <a:off x="6585735" y="2043541"/>
            <a:ext cx="5186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Build our </a:t>
            </a:r>
            <a:r>
              <a:rPr lang="en-US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GraphQL</a:t>
            </a:r>
            <a:r>
              <a:rPr lang="en-US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request payload …</a:t>
            </a:r>
            <a:endParaRPr lang="en-NL" i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kstvak 8">
            <a:extLst>
              <a:ext uri="{FF2B5EF4-FFF2-40B4-BE49-F238E27FC236}">
                <a16:creationId xmlns:a16="http://schemas.microsoft.com/office/drawing/2014/main" id="{ED4CDF2D-8921-7D70-99FB-3AC8A2D95B44}"/>
              </a:ext>
            </a:extLst>
          </p:cNvPr>
          <p:cNvSpPr txBox="1"/>
          <p:nvPr/>
        </p:nvSpPr>
        <p:spPr>
          <a:xfrm>
            <a:off x="6263813" y="4785724"/>
            <a:ext cx="4463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  add it to the API request …</a:t>
            </a:r>
            <a:endParaRPr lang="en-NL" i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kstvak 8">
            <a:extLst>
              <a:ext uri="{FF2B5EF4-FFF2-40B4-BE49-F238E27FC236}">
                <a16:creationId xmlns:a16="http://schemas.microsoft.com/office/drawing/2014/main" id="{0D7B4E92-51A6-10CE-0FB0-C82A399FFE1F}"/>
              </a:ext>
            </a:extLst>
          </p:cNvPr>
          <p:cNvSpPr txBox="1"/>
          <p:nvPr/>
        </p:nvSpPr>
        <p:spPr>
          <a:xfrm>
            <a:off x="6629056" y="5795159"/>
            <a:ext cx="5186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  and verify the JSON response body</a:t>
            </a:r>
            <a:endParaRPr lang="en-NL" i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3056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4" grpId="0"/>
      <p:bldP spid="5" grpId="0"/>
      <p:bldP spid="7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15B4CC-016B-AD6D-8814-74E181C53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11FF87-B77F-0364-1457-295A8D07F6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517"/>
            <a:ext cx="7715892" cy="39517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A34F88A-8971-8508-0FC6-9427E97145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2391" y="471969"/>
            <a:ext cx="8729609" cy="6386031"/>
          </a:xfrm>
          <a:prstGeom prst="rect">
            <a:avLst/>
          </a:prstGeom>
          <a:ln>
            <a:solidFill>
              <a:srgbClr val="00FF00"/>
            </a:solidFill>
          </a:ln>
        </p:spPr>
      </p:pic>
      <p:sp>
        <p:nvSpPr>
          <p:cNvPr id="10" name="Oval 4">
            <a:extLst>
              <a:ext uri="{FF2B5EF4-FFF2-40B4-BE49-F238E27FC236}">
                <a16:creationId xmlns:a16="http://schemas.microsoft.com/office/drawing/2014/main" id="{CC8B1052-542D-EDA2-281F-B0D24DB1913F}"/>
              </a:ext>
            </a:extLst>
          </p:cNvPr>
          <p:cNvSpPr/>
          <p:nvPr/>
        </p:nvSpPr>
        <p:spPr>
          <a:xfrm flipV="1">
            <a:off x="3989113" y="3436708"/>
            <a:ext cx="5504208" cy="1104470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Oval 4">
            <a:extLst>
              <a:ext uri="{FF2B5EF4-FFF2-40B4-BE49-F238E27FC236}">
                <a16:creationId xmlns:a16="http://schemas.microsoft.com/office/drawing/2014/main" id="{BB1ADA33-3EAC-15FA-E848-8A1A68AA8846}"/>
              </a:ext>
            </a:extLst>
          </p:cNvPr>
          <p:cNvSpPr/>
          <p:nvPr/>
        </p:nvSpPr>
        <p:spPr>
          <a:xfrm flipV="1">
            <a:off x="3521126" y="1974358"/>
            <a:ext cx="8499638" cy="1354468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Oval 4">
            <a:extLst>
              <a:ext uri="{FF2B5EF4-FFF2-40B4-BE49-F238E27FC236}">
                <a16:creationId xmlns:a16="http://schemas.microsoft.com/office/drawing/2014/main" id="{127C4C2C-6FE5-24F1-B743-1C3D557BB911}"/>
              </a:ext>
            </a:extLst>
          </p:cNvPr>
          <p:cNvSpPr/>
          <p:nvPr/>
        </p:nvSpPr>
        <p:spPr>
          <a:xfrm>
            <a:off x="4203158" y="5100720"/>
            <a:ext cx="2228465" cy="321086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kstvak 8">
            <a:extLst>
              <a:ext uri="{FF2B5EF4-FFF2-40B4-BE49-F238E27FC236}">
                <a16:creationId xmlns:a16="http://schemas.microsoft.com/office/drawing/2014/main" id="{B2F1FA40-8F51-1708-ED18-9CC31CCB8005}"/>
              </a:ext>
            </a:extLst>
          </p:cNvPr>
          <p:cNvSpPr txBox="1"/>
          <p:nvPr/>
        </p:nvSpPr>
        <p:spPr>
          <a:xfrm>
            <a:off x="7434524" y="2596315"/>
            <a:ext cx="3610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 the query variables …</a:t>
            </a:r>
            <a:endParaRPr lang="en-NL" i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kstvak 8">
            <a:extLst>
              <a:ext uri="{FF2B5EF4-FFF2-40B4-BE49-F238E27FC236}">
                <a16:creationId xmlns:a16="http://schemas.microsoft.com/office/drawing/2014/main" id="{60F3BD9E-EA6B-B500-C28A-752C2ED251B7}"/>
              </a:ext>
            </a:extLst>
          </p:cNvPr>
          <p:cNvSpPr txBox="1"/>
          <p:nvPr/>
        </p:nvSpPr>
        <p:spPr>
          <a:xfrm>
            <a:off x="6443639" y="4618238"/>
            <a:ext cx="5504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 build our </a:t>
            </a:r>
            <a:r>
              <a:rPr lang="en-US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GraphQL</a:t>
            </a:r>
            <a:r>
              <a:rPr lang="en-US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request payload …</a:t>
            </a:r>
            <a:endParaRPr lang="en-NL" i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kstvak 8">
            <a:extLst>
              <a:ext uri="{FF2B5EF4-FFF2-40B4-BE49-F238E27FC236}">
                <a16:creationId xmlns:a16="http://schemas.microsoft.com/office/drawing/2014/main" id="{DDAEC30D-E160-D737-2B95-8F5CB6CC5F7D}"/>
              </a:ext>
            </a:extLst>
          </p:cNvPr>
          <p:cNvSpPr txBox="1"/>
          <p:nvPr/>
        </p:nvSpPr>
        <p:spPr>
          <a:xfrm>
            <a:off x="6431623" y="5160828"/>
            <a:ext cx="5186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 and add it to the API request</a:t>
            </a:r>
            <a:endParaRPr lang="en-NL" i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8886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9" grpId="0" animBg="1"/>
      <p:bldP spid="7" grpId="0" animBg="1"/>
      <p:bldP spid="2" grpId="0"/>
      <p:bldP spid="4" grpId="0"/>
      <p:bldP spid="6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98D149-D10C-E890-FD33-BF2E5062A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3584-D147-D8DA-FCDC-34FC15AC0C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" y="1"/>
            <a:ext cx="10515600" cy="985520"/>
          </a:xfrm>
        </p:spPr>
        <p:txBody>
          <a:bodyPr/>
          <a:lstStyle/>
          <a:p>
            <a:pPr lvl="0"/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Now it’s your turn!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9B0577-9824-698B-1640-4012E3FCC29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21920" y="1219200"/>
            <a:ext cx="12003405" cy="5476240"/>
          </a:xfrm>
        </p:spPr>
        <p:txBody>
          <a:bodyPr>
            <a:normAutofit/>
          </a:bodyPr>
          <a:lstStyle/>
          <a:p>
            <a:pPr lvl="0">
              <a:lnSpc>
                <a:spcPct val="70000"/>
              </a:lnSpc>
              <a:buFont typeface="Courier New" pitchFamily="49"/>
              <a:buChar char="_"/>
            </a:pPr>
            <a:r>
              <a:rPr lang="nl-NL" dirty="0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Exercises &gt; Exercises06.cs</a:t>
            </a:r>
          </a:p>
          <a:p>
            <a:pPr lvl="0">
              <a:lnSpc>
                <a:spcPct val="70000"/>
              </a:lnSpc>
              <a:buFont typeface="Courier New" pitchFamily="49"/>
              <a:buChar char="_"/>
            </a:pPr>
            <a:endParaRPr lang="nl-NL" sz="2600" dirty="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lnSpc>
                <a:spcPct val="70000"/>
              </a:lnSpc>
              <a:buFont typeface="Courier New" pitchFamily="49"/>
              <a:buChar char="_"/>
            </a:pPr>
            <a:r>
              <a:rPr lang="nl-NL" dirty="0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Work with GraphQL APIs</a:t>
            </a:r>
            <a:endParaRPr lang="nl-NL" sz="2600" dirty="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1">
              <a:buFont typeface="Courier New" pitchFamily="49"/>
              <a:buChar char="_"/>
            </a:pPr>
            <a:r>
              <a:rPr lang="nl-NL" dirty="0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Invoke an endpoint with a non-parameterized query</a:t>
            </a:r>
          </a:p>
          <a:p>
            <a:pPr lvl="1">
              <a:buFont typeface="Courier New" pitchFamily="49"/>
              <a:buChar char="_"/>
            </a:pPr>
            <a:r>
              <a:rPr lang="nl-NL" dirty="0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Invoke an endpoint with a parameterized query</a:t>
            </a:r>
          </a:p>
          <a:p>
            <a:pPr>
              <a:lnSpc>
                <a:spcPct val="70000"/>
              </a:lnSpc>
              <a:buFont typeface="Courier New" pitchFamily="49"/>
              <a:buChar char="_"/>
            </a:pPr>
            <a:endParaRPr lang="nl-NL" sz="2600" dirty="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>
              <a:lnSpc>
                <a:spcPct val="70000"/>
              </a:lnSpc>
              <a:buFont typeface="Courier New" pitchFamily="49"/>
              <a:buChar char="_"/>
            </a:pPr>
            <a:r>
              <a:rPr lang="nl-NL" dirty="0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Answers are in Answers &gt; Answers06.cs</a:t>
            </a:r>
          </a:p>
          <a:p>
            <a:pPr lvl="0">
              <a:lnSpc>
                <a:spcPct val="70000"/>
              </a:lnSpc>
              <a:buFont typeface="Courier New" pitchFamily="49"/>
              <a:buChar char="_"/>
            </a:pPr>
            <a:endParaRPr lang="nl-NL" dirty="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lnSpc>
                <a:spcPct val="70000"/>
              </a:lnSpc>
              <a:buFont typeface="Courier New" pitchFamily="49"/>
              <a:buChar char="_"/>
            </a:pPr>
            <a:r>
              <a:rPr lang="nl-NL" dirty="0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Examples are in Examples &gt; Examples06.cs</a:t>
            </a:r>
          </a:p>
          <a:p>
            <a:pPr lvl="0">
              <a:lnSpc>
                <a:spcPct val="70000"/>
              </a:lnSpc>
              <a:buFont typeface="Courier New" pitchFamily="49"/>
              <a:buChar char="_"/>
            </a:pPr>
            <a:endParaRPr lang="nl-NL" sz="2600" dirty="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lnSpc>
                <a:spcPct val="70000"/>
              </a:lnSpc>
              <a:buFont typeface="Courier New" pitchFamily="49"/>
              <a:buChar char="_"/>
            </a:pPr>
            <a:endParaRPr lang="nl-NL" sz="2600" dirty="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lnSpc>
                <a:spcPct val="70000"/>
              </a:lnSpc>
              <a:buFont typeface="Courier New" pitchFamily="49"/>
              <a:buChar char="_"/>
            </a:pPr>
            <a:endParaRPr lang="nl-NL" sz="2600" dirty="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lnSpc>
                <a:spcPct val="70000"/>
              </a:lnSpc>
              <a:buFont typeface="Courier New" pitchFamily="49"/>
              <a:buChar char="_"/>
            </a:pPr>
            <a:endParaRPr lang="nl-NL" sz="2600" dirty="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lnSpc>
                <a:spcPct val="70000"/>
              </a:lnSpc>
              <a:buFont typeface="Courier New" pitchFamily="49"/>
              <a:buChar char="_"/>
            </a:pPr>
            <a:endParaRPr lang="nl-NL" sz="2600" dirty="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</p:txBody>
      </p:sp>
    </p:spTree>
    <p:extLst>
      <p:ext uri="{BB962C8B-B14F-4D97-AF65-F5344CB8AC3E}">
        <p14:creationId xmlns:p14="http://schemas.microsoft.com/office/powerpoint/2010/main" val="332493835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A8611-28F4-4AB8-85C1-A8929B703A1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Adding abstraction layers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E4A852-6104-45E5-A676-5FE22EF09FC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2" y="1825627"/>
            <a:ext cx="11018517" cy="4351336"/>
          </a:xfrm>
        </p:spPr>
        <p:txBody>
          <a:bodyPr>
            <a:normAutofit/>
          </a:bodyPr>
          <a:lstStyle/>
          <a:p>
            <a:pPr lvl="0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Once your test suite grows, you’ll find yourself reusing certain requests over and over</a:t>
            </a: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Writing them in full every time you need them means code duplication and decreased maintainability</a:t>
            </a: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Solution: add an abstraction layer on top of (parts of) the RestAssured.Net code</a:t>
            </a: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</p:txBody>
      </p:sp>
    </p:spTree>
    <p:extLst>
      <p:ext uri="{BB962C8B-B14F-4D97-AF65-F5344CB8AC3E}">
        <p14:creationId xmlns:p14="http://schemas.microsoft.com/office/powerpoint/2010/main" val="1439686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fbeelding 3">
            <a:extLst>
              <a:ext uri="{FF2B5EF4-FFF2-40B4-BE49-F238E27FC236}">
                <a16:creationId xmlns:a16="http://schemas.microsoft.com/office/drawing/2014/main" id="{76DB1FB5-DDAF-147A-7575-9D5B76693E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30" y="483479"/>
            <a:ext cx="6907187" cy="57559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727E199-D381-4902-BF17-321E866ED2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23393" y="0"/>
            <a:ext cx="5135877" cy="1325559"/>
          </a:xfrm>
        </p:spPr>
        <p:txBody>
          <a:bodyPr/>
          <a:lstStyle/>
          <a:p>
            <a:pPr lvl="0"/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Step 1: Create a ClientBase</a:t>
            </a:r>
          </a:p>
        </p:txBody>
      </p:sp>
      <p:sp>
        <p:nvSpPr>
          <p:cNvPr id="9" name="Oval 4">
            <a:extLst>
              <a:ext uri="{FF2B5EF4-FFF2-40B4-BE49-F238E27FC236}">
                <a16:creationId xmlns:a16="http://schemas.microsoft.com/office/drawing/2014/main" id="{97AA3BEC-FE89-450B-8090-5056FA950F6E}"/>
              </a:ext>
            </a:extLst>
          </p:cNvPr>
          <p:cNvSpPr/>
          <p:nvPr/>
        </p:nvSpPr>
        <p:spPr>
          <a:xfrm flipV="1">
            <a:off x="894080" y="484873"/>
            <a:ext cx="1412240" cy="369331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B03B7633-B0FC-411A-8878-7491B8121E5E}"/>
              </a:ext>
            </a:extLst>
          </p:cNvPr>
          <p:cNvSpPr txBox="1"/>
          <p:nvPr/>
        </p:nvSpPr>
        <p:spPr>
          <a:xfrm>
            <a:off x="214341" y="43224"/>
            <a:ext cx="6511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This class should not be instantiated in tests</a:t>
            </a:r>
            <a:endParaRPr kumimoji="0" lang="en-NL" sz="1800" b="0" i="1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11" name="Oval 4">
            <a:extLst>
              <a:ext uri="{FF2B5EF4-FFF2-40B4-BE49-F238E27FC236}">
                <a16:creationId xmlns:a16="http://schemas.microsoft.com/office/drawing/2014/main" id="{63591BAF-76CF-4DF1-9F88-83E1F895D94F}"/>
              </a:ext>
            </a:extLst>
          </p:cNvPr>
          <p:cNvSpPr/>
          <p:nvPr/>
        </p:nvSpPr>
        <p:spPr>
          <a:xfrm flipV="1">
            <a:off x="807721" y="4283368"/>
            <a:ext cx="6132196" cy="1486408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062F0795-070C-4EB0-BBCF-02855DC79040}"/>
              </a:ext>
            </a:extLst>
          </p:cNvPr>
          <p:cNvSpPr txBox="1"/>
          <p:nvPr/>
        </p:nvSpPr>
        <p:spPr>
          <a:xfrm>
            <a:off x="4247517" y="5859521"/>
            <a:ext cx="5384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The RequestSpecification contains properties shared</a:t>
            </a:r>
            <a:r>
              <a:rPr kumimoji="0" lang="en-US" sz="1800" b="0" i="0" u="none" strike="noStrike" kern="1200" cap="none" spc="0" normalizeH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among all requests</a:t>
            </a:r>
            <a:endParaRPr kumimoji="0" lang="en-NL" sz="1800" b="0" i="1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6" name="Oval 4">
            <a:extLst>
              <a:ext uri="{FF2B5EF4-FFF2-40B4-BE49-F238E27FC236}">
                <a16:creationId xmlns:a16="http://schemas.microsoft.com/office/drawing/2014/main" id="{93D697F6-99F4-9C57-19D1-09DFA20A1E03}"/>
              </a:ext>
            </a:extLst>
          </p:cNvPr>
          <p:cNvSpPr/>
          <p:nvPr/>
        </p:nvSpPr>
        <p:spPr>
          <a:xfrm flipV="1">
            <a:off x="3302000" y="1919346"/>
            <a:ext cx="2448560" cy="423499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56D0E518-6DF0-317C-6019-7B3BDC9D707D}"/>
              </a:ext>
            </a:extLst>
          </p:cNvPr>
          <p:cNvSpPr txBox="1"/>
          <p:nvPr/>
        </p:nvSpPr>
        <p:spPr>
          <a:xfrm>
            <a:off x="5802949" y="1784026"/>
            <a:ext cx="46202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Parameters that might change for different environments</a:t>
            </a:r>
            <a:r>
              <a:rPr kumimoji="0" lang="en-US" sz="1800" b="0" i="0" u="none" strike="noStrike" kern="1200" cap="none" spc="0" normalizeH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go here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aseline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u="none" strike="noStrike" kern="1200" cap="none" spc="0" normalizeH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If these are always the same they can also be hardcoded</a:t>
            </a:r>
            <a:endParaRPr kumimoji="0" lang="en-NL" sz="1800" b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6250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1" grpId="0" animBg="1"/>
      <p:bldP spid="12" grpId="0"/>
      <p:bldP spid="6" grpId="0" animBg="1"/>
      <p:bldP spid="13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Afbeelding 17">
            <a:extLst>
              <a:ext uri="{FF2B5EF4-FFF2-40B4-BE49-F238E27FC236}">
                <a16:creationId xmlns:a16="http://schemas.microsoft.com/office/drawing/2014/main" id="{FC4F82E5-20DE-434A-8367-3083BCEC82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5" y="0"/>
            <a:ext cx="877787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727E199-D381-4902-BF17-321E866ED2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771216" y="127000"/>
            <a:ext cx="3388054" cy="1325559"/>
          </a:xfrm>
        </p:spPr>
        <p:txBody>
          <a:bodyPr>
            <a:noAutofit/>
          </a:bodyPr>
          <a:lstStyle/>
          <a:p>
            <a:pPr lvl="0"/>
            <a:r>
              <a:rPr lang="nl-NL" sz="3200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Step 2: Create a Client class</a:t>
            </a:r>
          </a:p>
        </p:txBody>
      </p:sp>
      <p:sp>
        <p:nvSpPr>
          <p:cNvPr id="9" name="Oval 4">
            <a:extLst>
              <a:ext uri="{FF2B5EF4-FFF2-40B4-BE49-F238E27FC236}">
                <a16:creationId xmlns:a16="http://schemas.microsoft.com/office/drawing/2014/main" id="{97AA3BEC-FE89-450B-8090-5056FA950F6E}"/>
              </a:ext>
            </a:extLst>
          </p:cNvPr>
          <p:cNvSpPr/>
          <p:nvPr/>
        </p:nvSpPr>
        <p:spPr>
          <a:xfrm flipV="1">
            <a:off x="2542858" y="0"/>
            <a:ext cx="1412240" cy="254000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B03B7633-B0FC-411A-8878-7491B8121E5E}"/>
              </a:ext>
            </a:extLst>
          </p:cNvPr>
          <p:cNvSpPr txBox="1"/>
          <p:nvPr/>
        </p:nvSpPr>
        <p:spPr>
          <a:xfrm>
            <a:off x="270832" y="211009"/>
            <a:ext cx="6511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Inherit shared properties from the base class</a:t>
            </a:r>
            <a:endParaRPr kumimoji="0" lang="en-NL" sz="1800" b="0" i="1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11" name="Oval 4">
            <a:extLst>
              <a:ext uri="{FF2B5EF4-FFF2-40B4-BE49-F238E27FC236}">
                <a16:creationId xmlns:a16="http://schemas.microsoft.com/office/drawing/2014/main" id="{63591BAF-76CF-4DF1-9F88-83E1F895D94F}"/>
              </a:ext>
            </a:extLst>
          </p:cNvPr>
          <p:cNvSpPr/>
          <p:nvPr/>
        </p:nvSpPr>
        <p:spPr>
          <a:xfrm flipV="1">
            <a:off x="105073" y="2103120"/>
            <a:ext cx="5384800" cy="532557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062F0795-070C-4EB0-BBCF-02855DC79040}"/>
              </a:ext>
            </a:extLst>
          </p:cNvPr>
          <p:cNvSpPr txBox="1"/>
          <p:nvPr/>
        </p:nvSpPr>
        <p:spPr>
          <a:xfrm>
            <a:off x="5594946" y="1858926"/>
            <a:ext cx="5384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Create</a:t>
            </a:r>
            <a:r>
              <a:rPr kumimoji="0" lang="en-US" sz="1800" b="0" u="none" strike="noStrike" kern="1200" cap="none" spc="0" normalizeH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 a method that performs an action that is repeated across tests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aseline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u="none" strike="noStrike" kern="1200" cap="none" spc="0" normalizeH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Here, it’s retrieving a post based on the post ID</a:t>
            </a:r>
            <a:endParaRPr lang="en-US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u="none" strike="noStrike" kern="1200" cap="none" spc="0" normalizeH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It returns a VerifiableResponse (this is a RestAssured.Net class)</a:t>
            </a:r>
            <a:endParaRPr kumimoji="0" lang="en-US" sz="1800" b="0" u="none" strike="noStrike" kern="1200" cap="none" spc="0" normalizeH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Oval 4">
            <a:extLst>
              <a:ext uri="{FF2B5EF4-FFF2-40B4-BE49-F238E27FC236}">
                <a16:creationId xmlns:a16="http://schemas.microsoft.com/office/drawing/2014/main" id="{93D697F6-99F4-9C57-19D1-09DFA20A1E03}"/>
              </a:ext>
            </a:extLst>
          </p:cNvPr>
          <p:cNvSpPr/>
          <p:nvPr/>
        </p:nvSpPr>
        <p:spPr>
          <a:xfrm flipV="1">
            <a:off x="270832" y="1088223"/>
            <a:ext cx="4250368" cy="325134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56D0E518-6DF0-317C-6019-7B3BDC9D707D}"/>
              </a:ext>
            </a:extLst>
          </p:cNvPr>
          <p:cNvSpPr txBox="1"/>
          <p:nvPr/>
        </p:nvSpPr>
        <p:spPr>
          <a:xfrm>
            <a:off x="2810730" y="1423343"/>
            <a:ext cx="5960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Initialize the class and the base class</a:t>
            </a:r>
            <a:endParaRPr kumimoji="0" lang="en-NL" sz="1800" b="0" i="0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15" name="Tekstvak 14">
            <a:extLst>
              <a:ext uri="{FF2B5EF4-FFF2-40B4-BE49-F238E27FC236}">
                <a16:creationId xmlns:a16="http://schemas.microsoft.com/office/drawing/2014/main" id="{009F7DDB-9967-FBE7-C40C-84AC1D1E9698}"/>
              </a:ext>
            </a:extLst>
          </p:cNvPr>
          <p:cNvSpPr txBox="1"/>
          <p:nvPr/>
        </p:nvSpPr>
        <p:spPr>
          <a:xfrm>
            <a:off x="4298123" y="4762065"/>
            <a:ext cx="616712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Alternatively,</a:t>
            </a:r>
            <a:r>
              <a:rPr kumimoji="0" lang="en-US" sz="1800" b="0" u="none" strike="noStrike" kern="1200" cap="none" spc="0" normalizeH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 you can create methods that return the ‘raw’ HttpResponseMessage (this is a System.Net.Http class)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u="none" strike="noStrike" kern="1200" cap="none" spc="0" normalizeH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This way, you can also perform basic checks before returning the response object, if you want</a:t>
            </a:r>
          </a:p>
        </p:txBody>
      </p:sp>
      <p:sp>
        <p:nvSpPr>
          <p:cNvPr id="16" name="Oval 4">
            <a:extLst>
              <a:ext uri="{FF2B5EF4-FFF2-40B4-BE49-F238E27FC236}">
                <a16:creationId xmlns:a16="http://schemas.microsoft.com/office/drawing/2014/main" id="{9437E646-3425-E477-DC14-B8D40CE12F54}"/>
              </a:ext>
            </a:extLst>
          </p:cNvPr>
          <p:cNvSpPr/>
          <p:nvPr/>
        </p:nvSpPr>
        <p:spPr>
          <a:xfrm flipV="1">
            <a:off x="157610" y="4158455"/>
            <a:ext cx="5437336" cy="532557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5939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1" grpId="0" animBg="1"/>
      <p:bldP spid="12" grpId="0"/>
      <p:bldP spid="6" grpId="0" animBg="1"/>
      <p:bldP spid="13" grpId="0"/>
      <p:bldP spid="15" grpId="0"/>
      <p:bldP spid="16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fbeelding 3">
            <a:extLst>
              <a:ext uri="{FF2B5EF4-FFF2-40B4-BE49-F238E27FC236}">
                <a16:creationId xmlns:a16="http://schemas.microsoft.com/office/drawing/2014/main" id="{3D8F4B6B-0721-F5BB-2D33-C7C855379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16716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727E199-D381-4902-BF17-321E866ED2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626570" y="7300"/>
            <a:ext cx="5565430" cy="1325559"/>
          </a:xfrm>
        </p:spPr>
        <p:txBody>
          <a:bodyPr>
            <a:noAutofit/>
          </a:bodyPr>
          <a:lstStyle/>
          <a:p>
            <a:pPr lvl="0"/>
            <a:r>
              <a:rPr lang="nl-NL" sz="3200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Step 3: Use the Client class in your tests</a:t>
            </a:r>
          </a:p>
        </p:txBody>
      </p:sp>
      <p:sp>
        <p:nvSpPr>
          <p:cNvPr id="9" name="Oval 4">
            <a:extLst>
              <a:ext uri="{FF2B5EF4-FFF2-40B4-BE49-F238E27FC236}">
                <a16:creationId xmlns:a16="http://schemas.microsoft.com/office/drawing/2014/main" id="{97AA3BEC-FE89-450B-8090-5056FA950F6E}"/>
              </a:ext>
            </a:extLst>
          </p:cNvPr>
          <p:cNvSpPr/>
          <p:nvPr/>
        </p:nvSpPr>
        <p:spPr>
          <a:xfrm flipV="1">
            <a:off x="348298" y="395759"/>
            <a:ext cx="6377622" cy="369332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B03B7633-B0FC-411A-8878-7491B8121E5E}"/>
              </a:ext>
            </a:extLst>
          </p:cNvPr>
          <p:cNvSpPr txBox="1"/>
          <p:nvPr/>
        </p:nvSpPr>
        <p:spPr>
          <a:xfrm>
            <a:off x="2179752" y="782432"/>
            <a:ext cx="4148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Create a new client instance</a:t>
            </a:r>
            <a:endParaRPr kumimoji="0" lang="en-NL" sz="1800" b="0" i="1" u="none" strike="noStrike" kern="1200" cap="none" spc="0" normalizeH="0" baseline="0" noProof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11" name="Oval 4">
            <a:extLst>
              <a:ext uri="{FF2B5EF4-FFF2-40B4-BE49-F238E27FC236}">
                <a16:creationId xmlns:a16="http://schemas.microsoft.com/office/drawing/2014/main" id="{63591BAF-76CF-4DF1-9F88-83E1F895D94F}"/>
              </a:ext>
            </a:extLst>
          </p:cNvPr>
          <p:cNvSpPr/>
          <p:nvPr/>
        </p:nvSpPr>
        <p:spPr>
          <a:xfrm flipV="1">
            <a:off x="619760" y="1746577"/>
            <a:ext cx="2950355" cy="369331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062F0795-070C-4EB0-BBCF-02855DC79040}"/>
              </a:ext>
            </a:extLst>
          </p:cNvPr>
          <p:cNvSpPr txBox="1"/>
          <p:nvPr/>
        </p:nvSpPr>
        <p:spPr>
          <a:xfrm>
            <a:off x="7589520" y="1602676"/>
            <a:ext cx="460248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Call client methods to perform repeatable actions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u="none" strike="noStrike" kern="1200" cap="none" spc="0" normalizeH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Returning a VerifiableResponse enables using RestAssured.Net verifications and a fluent syntax</a:t>
            </a:r>
          </a:p>
        </p:txBody>
      </p:sp>
      <p:sp>
        <p:nvSpPr>
          <p:cNvPr id="15" name="Tekstvak 14">
            <a:extLst>
              <a:ext uri="{FF2B5EF4-FFF2-40B4-BE49-F238E27FC236}">
                <a16:creationId xmlns:a16="http://schemas.microsoft.com/office/drawing/2014/main" id="{009F7DDB-9967-FBE7-C40C-84AC1D1E9698}"/>
              </a:ext>
            </a:extLst>
          </p:cNvPr>
          <p:cNvSpPr txBox="1"/>
          <p:nvPr/>
        </p:nvSpPr>
        <p:spPr>
          <a:xfrm>
            <a:off x="6725920" y="3903818"/>
            <a:ext cx="546608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Working with</a:t>
            </a:r>
            <a:r>
              <a:rPr kumimoji="0" lang="en-US" sz="1800" b="0" u="none" strike="noStrike" kern="1200" cap="none" spc="0" normalizeH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 an HttpResponseMessage requires a bit more work to perform verifications on the response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u="none" strike="noStrike" kern="1200" cap="none" spc="0" normalizeH="0" noProof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You do have access to the raw response, though, which could be beneficial in certain cases</a:t>
            </a:r>
          </a:p>
        </p:txBody>
      </p:sp>
      <p:sp>
        <p:nvSpPr>
          <p:cNvPr id="16" name="Oval 4">
            <a:extLst>
              <a:ext uri="{FF2B5EF4-FFF2-40B4-BE49-F238E27FC236}">
                <a16:creationId xmlns:a16="http://schemas.microsoft.com/office/drawing/2014/main" id="{9437E646-3425-E477-DC14-B8D40CE12F54}"/>
              </a:ext>
            </a:extLst>
          </p:cNvPr>
          <p:cNvSpPr/>
          <p:nvPr/>
        </p:nvSpPr>
        <p:spPr>
          <a:xfrm flipV="1">
            <a:off x="2265679" y="5654350"/>
            <a:ext cx="3291841" cy="369331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2787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1" grpId="0" animBg="1"/>
      <p:bldP spid="12" grpId="0"/>
      <p:bldP spid="15" grpId="0"/>
      <p:bldP spid="16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62EA1-E49C-41E5-9096-5370BBDC11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" y="1"/>
            <a:ext cx="10515600" cy="985520"/>
          </a:xfrm>
        </p:spPr>
        <p:txBody>
          <a:bodyPr/>
          <a:lstStyle/>
          <a:p>
            <a:pPr lvl="0"/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Now it’s your turn!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455EF-CD7A-4AB7-A52F-3E8CD80F761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21920" y="1219200"/>
            <a:ext cx="12003405" cy="5476240"/>
          </a:xfrm>
        </p:spPr>
        <p:txBody>
          <a:bodyPr>
            <a:normAutofit/>
          </a:bodyPr>
          <a:lstStyle/>
          <a:p>
            <a:pPr lvl="0">
              <a:lnSpc>
                <a:spcPct val="70000"/>
              </a:lnSpc>
              <a:buFont typeface="Courier New" pitchFamily="49"/>
              <a:buChar char="_"/>
            </a:pPr>
            <a:r>
              <a:rPr lang="nl-NL" dirty="0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Exercises &gt; Exercises07.cs</a:t>
            </a:r>
          </a:p>
          <a:p>
            <a:pPr lvl="0">
              <a:lnSpc>
                <a:spcPct val="70000"/>
              </a:lnSpc>
              <a:buFont typeface="Courier New" pitchFamily="49"/>
              <a:buChar char="_"/>
            </a:pPr>
            <a:endParaRPr lang="nl-NL" sz="2600" dirty="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lnSpc>
                <a:spcPct val="70000"/>
              </a:lnSpc>
              <a:buFont typeface="Courier New" pitchFamily="49"/>
              <a:buChar char="_"/>
            </a:pPr>
            <a:r>
              <a:rPr lang="nl-NL" dirty="0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Practice with adding abstraction layers to your tests</a:t>
            </a:r>
            <a:endParaRPr lang="nl-NL" sz="2600" dirty="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1">
              <a:buFont typeface="Courier New" pitchFamily="49"/>
              <a:buChar char="_"/>
            </a:pPr>
            <a:r>
              <a:rPr lang="nl-NL" dirty="0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The ClientBase has been created for you</a:t>
            </a:r>
          </a:p>
          <a:p>
            <a:pPr lvl="1">
              <a:buFont typeface="Courier New" pitchFamily="49"/>
              <a:buChar char="_"/>
            </a:pPr>
            <a:r>
              <a:rPr lang="nl-NL" dirty="0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First, define the appropriate methods in the AccountClient</a:t>
            </a:r>
          </a:p>
          <a:p>
            <a:pPr lvl="1">
              <a:buFont typeface="Courier New" pitchFamily="49"/>
              <a:buChar char="_"/>
            </a:pPr>
            <a:r>
              <a:rPr lang="nl-NL" dirty="0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Then, complete the tests using the AccountClient methods</a:t>
            </a:r>
          </a:p>
          <a:p>
            <a:pPr>
              <a:lnSpc>
                <a:spcPct val="70000"/>
              </a:lnSpc>
              <a:buFont typeface="Courier New" pitchFamily="49"/>
              <a:buChar char="_"/>
            </a:pPr>
            <a:endParaRPr lang="nl-NL" sz="2600" dirty="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>
              <a:lnSpc>
                <a:spcPct val="70000"/>
              </a:lnSpc>
              <a:buFont typeface="Courier New" pitchFamily="49"/>
              <a:buChar char="_"/>
            </a:pPr>
            <a:r>
              <a:rPr lang="nl-NL" dirty="0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Answers are in Answers &gt; Answers07.cs</a:t>
            </a:r>
          </a:p>
          <a:p>
            <a:pPr lvl="0">
              <a:lnSpc>
                <a:spcPct val="70000"/>
              </a:lnSpc>
              <a:buFont typeface="Courier New" pitchFamily="49"/>
              <a:buChar char="_"/>
            </a:pPr>
            <a:endParaRPr lang="nl-NL" dirty="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lnSpc>
                <a:spcPct val="70000"/>
              </a:lnSpc>
              <a:buFont typeface="Courier New" pitchFamily="49"/>
              <a:buChar char="_"/>
            </a:pPr>
            <a:r>
              <a:rPr lang="nl-NL" dirty="0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Examples are in Examples &gt; Examples07.cs</a:t>
            </a:r>
          </a:p>
          <a:p>
            <a:pPr lvl="0">
              <a:lnSpc>
                <a:spcPct val="70000"/>
              </a:lnSpc>
              <a:buFont typeface="Courier New" pitchFamily="49"/>
              <a:buChar char="_"/>
            </a:pPr>
            <a:endParaRPr lang="nl-NL" sz="2600" dirty="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lnSpc>
                <a:spcPct val="70000"/>
              </a:lnSpc>
              <a:buFont typeface="Courier New" pitchFamily="49"/>
              <a:buChar char="_"/>
            </a:pPr>
            <a:endParaRPr lang="nl-NL" sz="2600" dirty="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lnSpc>
                <a:spcPct val="70000"/>
              </a:lnSpc>
              <a:buFont typeface="Courier New" pitchFamily="49"/>
              <a:buChar char="_"/>
            </a:pPr>
            <a:endParaRPr lang="nl-NL" sz="2600" dirty="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lnSpc>
                <a:spcPct val="70000"/>
              </a:lnSpc>
              <a:buFont typeface="Courier New" pitchFamily="49"/>
              <a:buChar char="_"/>
            </a:pPr>
            <a:endParaRPr lang="nl-NL" sz="2600" dirty="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lnSpc>
                <a:spcPct val="70000"/>
              </a:lnSpc>
              <a:buFont typeface="Courier New" pitchFamily="49"/>
              <a:buChar char="_"/>
            </a:pPr>
            <a:endParaRPr lang="nl-NL" sz="2600" dirty="0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</p:txBody>
      </p:sp>
    </p:spTree>
    <p:extLst>
      <p:ext uri="{BB962C8B-B14F-4D97-AF65-F5344CB8AC3E}">
        <p14:creationId xmlns:p14="http://schemas.microsoft.com/office/powerpoint/2010/main" val="380790740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568036-DA7E-4D10-B37C-1B11EE7AE41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904875"/>
            <a:ext cx="10515600" cy="6572250"/>
          </a:xfrm>
        </p:spPr>
        <p:txBody>
          <a:bodyPr anchor="ctr">
            <a:normAutofit fontScale="85000" lnSpcReduction="20000"/>
          </a:bodyPr>
          <a:lstStyle/>
          <a:p>
            <a:pPr marL="0" lvl="0" indent="0" algn="ctr">
              <a:buNone/>
            </a:pPr>
            <a:r>
              <a:rPr lang="nl-NL" sz="62300" b="1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?</a:t>
            </a:r>
            <a:endParaRPr lang="nl-NL" sz="2400" b="1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DBAFA-C47D-4CCB-A515-A7187FB0D2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0721" y="334649"/>
            <a:ext cx="10515600" cy="1325559"/>
          </a:xfrm>
        </p:spPr>
        <p:txBody>
          <a:bodyPr/>
          <a:lstStyle/>
          <a:p>
            <a:pPr lvl="0"/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Contact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4DCF3-A2F3-4EBF-8EF5-1B64E732C78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80721" y="1825627"/>
            <a:ext cx="11308078" cy="4351336"/>
          </a:xfrm>
        </p:spPr>
        <p:txBody>
          <a:bodyPr/>
          <a:lstStyle/>
          <a:p>
            <a:pPr lvl="0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Email:    </a:t>
            </a:r>
            <a:r>
              <a:rPr lang="nl-NL">
                <a:solidFill>
                  <a:srgbClr val="0070C0"/>
                </a:solidFill>
                <a:latin typeface="Courier New" pitchFamily="49"/>
                <a:cs typeface="Courier New" pitchFamily="49"/>
              </a:rPr>
              <a:t>bas@ontestautomation.com</a:t>
            </a: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Website:  </a:t>
            </a:r>
            <a:r>
              <a:rPr lang="nl-NL">
                <a:solidFill>
                  <a:srgbClr val="0070C0"/>
                </a:solidFill>
                <a:latin typeface="Courier New" pitchFamily="49"/>
                <a:cs typeface="Courier New" pitchFamily="49"/>
              </a:rPr>
              <a:t>https://www.ontestautomation.com/training</a:t>
            </a: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70C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r>
              <a:rPr lang="nl-NL">
                <a:solidFill>
                  <a:srgbClr val="00FF00"/>
                </a:solidFill>
                <a:latin typeface="Courier New" pitchFamily="49"/>
                <a:cs typeface="Courier New" pitchFamily="49"/>
              </a:rPr>
              <a:t>LinkedIn: </a:t>
            </a:r>
            <a:r>
              <a:rPr lang="nl-NL">
                <a:solidFill>
                  <a:srgbClr val="0070C0"/>
                </a:solidFill>
                <a:latin typeface="Courier New" pitchFamily="49"/>
                <a:cs typeface="Courier New" pitchFamily="49"/>
              </a:rPr>
              <a:t>https://www.linkedin.com/in/basdijkstra</a:t>
            </a: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  <a:p>
            <a:pPr lvl="0">
              <a:buFont typeface="Courier New" pitchFamily="49"/>
              <a:buChar char="_"/>
            </a:pPr>
            <a:endParaRPr lang="nl-NL">
              <a:solidFill>
                <a:srgbClr val="00FF00"/>
              </a:solidFill>
              <a:latin typeface="Courier New" pitchFamily="49"/>
              <a:cs typeface="Courier New" pitchFamily="49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27801</TotalTime>
  <Words>2782</Words>
  <Application>Microsoft Office PowerPoint</Application>
  <PresentationFormat>Widescreen</PresentationFormat>
  <Paragraphs>644</Paragraphs>
  <Slides>73</Slides>
  <Notes>64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73</vt:i4>
      </vt:variant>
    </vt:vector>
  </HeadingPairs>
  <TitlesOfParts>
    <vt:vector size="81" baseType="lpstr">
      <vt:lpstr>Arial</vt:lpstr>
      <vt:lpstr>Calibri</vt:lpstr>
      <vt:lpstr>Calibri Light</vt:lpstr>
      <vt:lpstr>Courier New</vt:lpstr>
      <vt:lpstr>Office Theme</vt:lpstr>
      <vt:lpstr>1_Office Theme</vt:lpstr>
      <vt:lpstr>2_Office Theme</vt:lpstr>
      <vt:lpstr>4_Office Theme</vt:lpstr>
      <vt:lpstr>Testing HTTP-based APIs using RestAssured.Net</vt:lpstr>
      <vt:lpstr>What are we going to do?</vt:lpstr>
      <vt:lpstr>Preparation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API specification / documentation</vt:lpstr>
      <vt:lpstr>Tools for testing RESTful APIs</vt:lpstr>
      <vt:lpstr>RestAssured.Net</vt:lpstr>
      <vt:lpstr>Adding RestAssured.Net to your project</vt:lpstr>
      <vt:lpstr>RestAssured.Net documentation</vt:lpstr>
      <vt:lpstr>A sample test</vt:lpstr>
      <vt:lpstr>RestAssured.Net features</vt:lpstr>
      <vt:lpstr>About NHamcrest matchers</vt:lpstr>
      <vt:lpstr>About JsonPath</vt:lpstr>
      <vt:lpstr>Checking technical response data</vt:lpstr>
      <vt:lpstr>Logging request data</vt:lpstr>
      <vt:lpstr>Logging request data</vt:lpstr>
      <vt:lpstr>Logging response data</vt:lpstr>
      <vt:lpstr>Our API under test</vt:lpstr>
      <vt:lpstr>Demo</vt:lpstr>
      <vt:lpstr>Now it’s your turn!</vt:lpstr>
      <vt:lpstr>Parameters in RESTful web services</vt:lpstr>
      <vt:lpstr>Using query parameters</vt:lpstr>
      <vt:lpstr>Using path parameters</vt:lpstr>
      <vt:lpstr>APIs are all about data</vt:lpstr>
      <vt:lpstr>Parameterized testing</vt:lpstr>
      <vt:lpstr>‘Feeding’ test data to your test</vt:lpstr>
      <vt:lpstr>Running the parameterized test</vt:lpstr>
      <vt:lpstr>Now it’s your turn!</vt:lpstr>
      <vt:lpstr>Authentication</vt:lpstr>
      <vt:lpstr>Basic authentication</vt:lpstr>
      <vt:lpstr>OAuth(2)</vt:lpstr>
      <vt:lpstr>Sharing variables between tests</vt:lpstr>
      <vt:lpstr>Sharing variables between tests </vt:lpstr>
      <vt:lpstr>RequestSpecifications</vt:lpstr>
      <vt:lpstr>Defining and using a RequestSpecification</vt:lpstr>
      <vt:lpstr>Now it’s your turn!</vt:lpstr>
      <vt:lpstr>Working with XML responses</vt:lpstr>
      <vt:lpstr>PowerPoint Presentation</vt:lpstr>
      <vt:lpstr>PowerPoint Presentation</vt:lpstr>
      <vt:lpstr>Now it’s your turn!</vt:lpstr>
      <vt:lpstr>(De-)serialization of objects</vt:lpstr>
      <vt:lpstr>Example: serialization</vt:lpstr>
      <vt:lpstr>Example: serialization</vt:lpstr>
      <vt:lpstr>Serializing anonymous objects</vt:lpstr>
      <vt:lpstr>Example: deserialization</vt:lpstr>
      <vt:lpstr>Example: deserialization (without initial checks)</vt:lpstr>
      <vt:lpstr>Now it’s your turn!</vt:lpstr>
      <vt:lpstr>One challenge with ‘traditional’ REST APIs</vt:lpstr>
      <vt:lpstr>GraphQL</vt:lpstr>
      <vt:lpstr>PowerPoint Presentation</vt:lpstr>
      <vt:lpstr>Sending a GraphQL query</vt:lpstr>
      <vt:lpstr>GraphQL API responses</vt:lpstr>
      <vt:lpstr>PowerPoint Presentation</vt:lpstr>
      <vt:lpstr>PowerPoint Presentation</vt:lpstr>
      <vt:lpstr>Now it’s your turn!</vt:lpstr>
      <vt:lpstr>Adding abstraction layers</vt:lpstr>
      <vt:lpstr>Step 1: Create a ClientBase</vt:lpstr>
      <vt:lpstr>Step 2: Create a Client class</vt:lpstr>
      <vt:lpstr>Step 3: Use the Client class in your tests</vt:lpstr>
      <vt:lpstr>Now it’s your turn!</vt:lpstr>
      <vt:lpstr>PowerPoint Presentation</vt:lpstr>
      <vt:lpstr>Contact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de REST</dc:title>
  <dc:creator>Bas Dijkstra</dc:creator>
  <cp:lastModifiedBy>Bas Dijkstra</cp:lastModifiedBy>
  <cp:revision>285</cp:revision>
  <dcterms:created xsi:type="dcterms:W3CDTF">2016-03-22T05:00:13Z</dcterms:created>
  <dcterms:modified xsi:type="dcterms:W3CDTF">2025-11-14T15:07:33Z</dcterms:modified>
</cp:coreProperties>
</file>